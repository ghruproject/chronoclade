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d4a170b6b747a3" /><Relationship Type="http://schemas.openxmlformats.org/officeDocument/2006/relationships/extended-properties" Target="/docProps/app.xml" Id="R48d8acf3c34c40ac" /><Relationship Type="http://schemas.openxmlformats.org/officeDocument/2006/relationships/officeDocument" Target="/ppt/presentation.xml" Id="R42bdd433f95b4e6b" /></Relationships>
</file>

<file path=ppt/presentation.xml><?xml version="1.0" encoding="utf-8"?>
<p:presentation xmlns:p="http://schemas.openxmlformats.org/presentationml/2006/main">
  <p:sldMasterIdLst>
    <p:sldMasterId xmlns:r="http://schemas.openxmlformats.org/officeDocument/2006/relationships" id="2147483648" r:id="R2f35e9015d184e1d"/>
  </p:sldMasterIdLst>
  <p:notesMasterIdLst>
    <p:notesMasterId xmlns:r="http://schemas.openxmlformats.org/officeDocument/2006/relationships" r:id="Rfe3120d898b94fc2"/>
  </p:notesMasterIdLst>
  <p:sldIdLst>
    <p:sldId xmlns:r="http://schemas.openxmlformats.org/officeDocument/2006/relationships" id="256" r:id="R7a3a2fca22d44e5e"/>
    <p:sldId xmlns:r="http://schemas.openxmlformats.org/officeDocument/2006/relationships" id="257" r:id="R93f205c3a03447c1"/>
    <p:sldId xmlns:r="http://schemas.openxmlformats.org/officeDocument/2006/relationships" id="258" r:id="R5fc87833cc4846b5"/>
    <p:sldId xmlns:r="http://schemas.openxmlformats.org/officeDocument/2006/relationships" id="259" r:id="R8e0baf249bd447b4"/>
    <p:sldId xmlns:r="http://schemas.openxmlformats.org/officeDocument/2006/relationships" id="260" r:id="R1b450712c9b44044"/>
    <p:sldId xmlns:r="http://schemas.openxmlformats.org/officeDocument/2006/relationships" id="261" r:id="R3873326ff6324530"/>
    <p:sldId xmlns:r="http://schemas.openxmlformats.org/officeDocument/2006/relationships" id="262" r:id="R5b3f9731111742f8"/>
    <p:sldId xmlns:r="http://schemas.openxmlformats.org/officeDocument/2006/relationships" id="263" r:id="R5f8bcecf1e6745cb"/>
    <p:sldId xmlns:r="http://schemas.openxmlformats.org/officeDocument/2006/relationships" id="264" r:id="Ra889691c14324bbb"/>
    <p:sldId xmlns:r="http://schemas.openxmlformats.org/officeDocument/2006/relationships" id="265" r:id="Rfceb22df11784a87"/>
    <p:sldId xmlns:r="http://schemas.openxmlformats.org/officeDocument/2006/relationships" id="266" r:id="Rf26a65cc316446d9"/>
    <p:sldId xmlns:r="http://schemas.openxmlformats.org/officeDocument/2006/relationships" id="267" r:id="Ra415d74925e645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8668cdca8547ec" /><Relationship Type="http://schemas.openxmlformats.org/officeDocument/2006/relationships/slideMaster" Target="/ppt/slideMasters/slideMaster1.xml" Id="R2f35e9015d184e1d" /><Relationship Type="http://schemas.openxmlformats.org/officeDocument/2006/relationships/notesMaster" Target="/ppt/notesMasters/notesMaster1.xml" Id="Rfe3120d898b94fc2" /><Relationship Type="http://schemas.openxmlformats.org/officeDocument/2006/relationships/presProps" Target="/ppt/presProps.xml" Id="R5d7770518ee04871" /><Relationship Type="http://schemas.openxmlformats.org/officeDocument/2006/relationships/tableStyles" Target="/ppt/tableStyles.xml" Id="Rb01fae71bf5a46bf" /><Relationship Type="http://schemas.openxmlformats.org/officeDocument/2006/relationships/slide" Target="/ppt/slides/slide1.xml" Id="R7a3a2fca22d44e5e" /><Relationship Type="http://schemas.openxmlformats.org/officeDocument/2006/relationships/slide" Target="/ppt/slides/slide2.xml" Id="R93f205c3a03447c1" /><Relationship Type="http://schemas.openxmlformats.org/officeDocument/2006/relationships/slide" Target="/ppt/slides/slide3.xml" Id="R5fc87833cc4846b5" /><Relationship Type="http://schemas.openxmlformats.org/officeDocument/2006/relationships/slide" Target="/ppt/slides/slide4.xml" Id="R8e0baf249bd447b4" /><Relationship Type="http://schemas.openxmlformats.org/officeDocument/2006/relationships/slide" Target="/ppt/slides/slide5.xml" Id="R1b450712c9b44044" /><Relationship Type="http://schemas.openxmlformats.org/officeDocument/2006/relationships/slide" Target="/ppt/slides/slide6.xml" Id="R3873326ff6324530" /><Relationship Type="http://schemas.openxmlformats.org/officeDocument/2006/relationships/slide" Target="/ppt/slides/slide7.xml" Id="R5b3f9731111742f8" /><Relationship Type="http://schemas.openxmlformats.org/officeDocument/2006/relationships/slide" Target="/ppt/slides/slide8.xml" Id="R5f8bcecf1e6745cb" /><Relationship Type="http://schemas.openxmlformats.org/officeDocument/2006/relationships/slide" Target="/ppt/slides/slide9.xml" Id="Ra889691c14324bbb" /><Relationship Type="http://schemas.openxmlformats.org/officeDocument/2006/relationships/slide" Target="/ppt/slides/slide10.xml" Id="Rfceb22df11784a87" /><Relationship Type="http://schemas.openxmlformats.org/officeDocument/2006/relationships/slide" Target="/ppt/slides/slide11.xml" Id="Rf26a65cc316446d9" /><Relationship Type="http://schemas.openxmlformats.org/officeDocument/2006/relationships/slide" Target="/ppt/slides/slide12.xml" Id="Ra415d74925e645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d1b2fa318f49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8ed6b06af84df0" /><Relationship Type="http://schemas.openxmlformats.org/officeDocument/2006/relationships/notesMaster" Target="/ppt/notesMasters/notesMaster1.xml" Id="Rc4afd3d620a548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83e0d9753742c1" /><Relationship Type="http://schemas.openxmlformats.org/officeDocument/2006/relationships/notesMaster" Target="/ppt/notesMasters/notesMaster1.xml" Id="R4ca73fdcce1d46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c601f907984280" /><Relationship Type="http://schemas.openxmlformats.org/officeDocument/2006/relationships/notesMaster" Target="/ppt/notesMasters/notesMaster1.xml" Id="R919f034006c141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e177126eb24a22" /><Relationship Type="http://schemas.openxmlformats.org/officeDocument/2006/relationships/notesMaster" Target="/ppt/notesMasters/notesMaster1.xml" Id="Rf28a1bde6c744e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3d956031fc44cb" /><Relationship Type="http://schemas.openxmlformats.org/officeDocument/2006/relationships/notesMaster" Target="/ppt/notesMasters/notesMaster1.xml" Id="Rf2e560dc7d124c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50aa77e3bf4d51" /><Relationship Type="http://schemas.openxmlformats.org/officeDocument/2006/relationships/notesMaster" Target="/ppt/notesMasters/notesMaster1.xml" Id="R3f48c3f8e5f041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a9a716c2cc4306" /><Relationship Type="http://schemas.openxmlformats.org/officeDocument/2006/relationships/notesMaster" Target="/ppt/notesMasters/notesMaster1.xml" Id="Ra0dfc7d12a7044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22f22a71d84744" /><Relationship Type="http://schemas.openxmlformats.org/officeDocument/2006/relationships/notesMaster" Target="/ppt/notesMasters/notesMaster1.xml" Id="Ra5e17b765eb343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b999f74c3e4906" /><Relationship Type="http://schemas.openxmlformats.org/officeDocument/2006/relationships/notesMaster" Target="/ppt/notesMasters/notesMaster1.xml" Id="R2365b2de96ff41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cfc2eb157e4342" /><Relationship Type="http://schemas.openxmlformats.org/officeDocument/2006/relationships/notesMaster" Target="/ppt/notesMasters/notesMaster1.xml" Id="Rfaaa5fe2df0246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923d9e577345f4" /><Relationship Type="http://schemas.openxmlformats.org/officeDocument/2006/relationships/notesMaster" Target="/ppt/notesMasters/notesMaster1.xml" Id="R6c7ad33671694b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1c9342ad5f4d52" /><Relationship Type="http://schemas.openxmlformats.org/officeDocument/2006/relationships/notesMaster" Target="/ppt/notesMasters/notesMaster1.xml" Id="Rafc8c8bdff4243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operational question: once we know several isolates share an ST, can we tell whether that lineage has been circulating locally or has been introduced repeatedly? This talk is about the evidence needed to ask that question safely. Aim for about 45 seconds.</a:t>
            </a:r>
          </a:p>
          <a:p xmlns:a="http://schemas.openxmlformats.org/drawingml/2006/main">
            <a:r>
              <a:t/>
            </a:r>
          </a:p>
          <a:p xmlns:a="http://schemas.openxmlformats.org/drawingml/2006/main">
            <a:r>
              <a:t>[Sources]</a:t>
            </a:r>
          </a:p>
          <a:p xmlns:a="http://schemas.openxmlformats.org/drawingml/2006/main">
            <a:r>
              <a:t>- https://github.com/ghruproject/chronoclade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MLST is a useful first stratification, but the same ST can contain very different public-health histories. The left-hand pattern is consistent with local persistence. The right-hand pattern is consistent with repeated introductions. Whole-genome topology, distances, dates and public context are needed to distinguish them. About 75 seconds.</a:t>
            </a:r>
          </a:p>
          <a:p xmlns:a="http://schemas.openxmlformats.org/drawingml/2006/main">
            <a:r>
              <a:t/>
            </a:r>
          </a:p>
          <a:p xmlns:a="http://schemas.openxmlformats.org/drawingml/2006/main">
            <a:r>
              <a:t>[Sources]</a:t>
            </a:r>
          </a:p>
          <a:p xmlns:a="http://schemas.openxmlformats.org/drawingml/2006/main">
            <a:r>
              <a:t>- https://github.com/ghruproject/chronoclade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initially measures change in substitutions per site, not years. Sampling dates at the tips can calibrate a molecular clock. TreeTime uses an approximate maximum-likelihood framework to estimate rates and node dates efficiently. The crucial qualification is that the dates must contain measurable information about evolutionary change. About 90 seconds.</a:t>
            </a:r>
          </a:p>
          <a:p xmlns:a="http://schemas.openxmlformats.org/drawingml/2006/main">
            <a:r>
              <a:t/>
            </a:r>
          </a:p>
          <a:p xmlns:a="http://schemas.openxmlformats.org/drawingml/2006/main">
            <a:r>
              <a:t>[Sources]</a:t>
            </a:r>
          </a:p>
          <a:p xmlns:a="http://schemas.openxmlformats.org/drawingml/2006/main">
            <a:r>
              <a:t>- https://academic.oup.com/ve/article/4/1/vex042/4794731</a:t>
            </a:r>
          </a:p>
          <a:p xmlns:a="http://schemas.openxmlformats.org/drawingml/2006/main">
            <a:r>
              <a:t>- https://discovery.ucl.ac.uk/id/eprint/1483140/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basic data contract is one row per genome. We need a stable isolate identifier, the assembly path, a collection date, species, lineage or ST, and whether the sample is focal or context. Patient identifiers can be coded and are optional. Dates can be year-only, but month-level data improve resolution. Emphasise that this is a modest metadata requirement. About 75 seconds.</a:t>
            </a:r>
          </a:p>
          <a:p xmlns:a="http://schemas.openxmlformats.org/drawingml/2006/main">
            <a:r>
              <a:t/>
            </a:r>
          </a:p>
          <a:p xmlns:a="http://schemas.openxmlformats.org/drawingml/2006/main">
            <a:r>
              <a:t>[Sources]</a:t>
            </a:r>
          </a:p>
          <a:p xmlns:a="http://schemas.openxmlformats.org/drawingml/2006/main">
            <a:r>
              <a:t>- https://discovery.ucl.ac.uk/id/eprint/1483140/</a:t>
            </a:r>
          </a:p>
          <a:p xmlns:a="http://schemas.openxmlformats.org/drawingml/2006/main">
            <a:r>
              <a:t>- https://github.com/ghruproject/chronoclade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a bacterial time tree is not simply a tree plus dates. Homologous recombination violates a simple clonal tree model, so ChronoClade uses ClonalFrameML before calculating clonal distances or temporal signal. Bacterial evolution may also be too slow over two years, and public context will always be incomplete. About 90 seconds.</a:t>
            </a:r>
          </a:p>
          <a:p xmlns:a="http://schemas.openxmlformats.org/drawingml/2006/main">
            <a:r>
              <a:t/>
            </a:r>
          </a:p>
          <a:p xmlns:a="http://schemas.openxmlformats.org/drawingml/2006/main">
            <a:r>
              <a:t>[Sources]</a:t>
            </a:r>
          </a:p>
          <a:p xmlns:a="http://schemas.openxmlformats.org/drawingml/2006/main">
            <a:r>
              <a:t>- https://journals.plos.org/ploscompbiol/article?id=10.1371/journal.pcbi.1004041</a:t>
            </a:r>
          </a:p>
          <a:p xmlns:a="http://schemas.openxmlformats.org/drawingml/2006/main">
            <a:r>
              <a:t>- https://discovery.ucl.ac.uk/id/eprint/1483140/</a:t>
            </a:r>
          </a:p>
          <a:p xmlns:a="http://schemas.openxmlformats.org/drawingml/2006/main">
            <a:r>
              <a:t>- https://github.com/ghruproject/chronoclade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published bacterial datasets, not simulated points. Pseudomonas within one patient produced a clear association and an MRCA near admission. Typhi had only an R-squared of 0.12 but a highly significant slope and passed the randomisation test. Klebsiella ST101 is the warning case: a positive slope, but 10,000 permutations gave P equals 0.339. The large tuberculosis study found very weak fits and showed that slow organisms often need much longer sampling windows. The lesson is that R-squared is descriptive, not the gate. About two minutes.</a:t>
            </a:r>
          </a:p>
          <a:p xmlns:a="http://schemas.openxmlformats.org/drawingml/2006/main">
            <a:r>
              <a:t/>
            </a:r>
          </a:p>
          <a:p xmlns:a="http://schemas.openxmlformats.org/drawingml/2006/main">
            <a:r>
              <a:t>[Sources]</a:t>
            </a:r>
          </a:p>
          <a:p xmlns:a="http://schemas.openxmlformats.org/drawingml/2006/main">
            <a:r>
              <a:t>- https://www.nature.com/articles/s41467-021-22814-9</a:t>
            </a:r>
          </a:p>
          <a:p xmlns:a="http://schemas.openxmlformats.org/drawingml/2006/main">
            <a:r>
              <a:t>- https://www.nature.com/articles/s41467-018-07370-z</a:t>
            </a:r>
          </a:p>
          <a:p xmlns:a="http://schemas.openxmlformats.org/drawingml/2006/main">
            <a:r>
              <a:t>- https://www.frontiersin.org/journals/microbiology/articles/10.3389/fmicb.2019.00542/full</a:t>
            </a:r>
          </a:p>
          <a:p xmlns:a="http://schemas.openxmlformats.org/drawingml/2006/main">
            <a:r>
              <a:t>- https://journals.plos.org/plospathogens/article?id=10.1371/journal.ppat.1008067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four real applications of date randomisation. Mycobacterium leprae has an unusually strong signal because ancient genomes extend the calibration window. Typhi 3.1.1 and Klebsiella ST17 both passed, supporting dated analyses. Klebsiella ST101 did not: despite a positive slope, 10,000 permutations gave a non-significant result. That is precisely why the pipeline must permit an indeterminate output and suppress the dated tree when the evidence gate fails. About two minutes.</a:t>
            </a:r>
          </a:p>
          <a:p xmlns:a="http://schemas.openxmlformats.org/drawingml/2006/main">
            <a:r>
              <a:t/>
            </a:r>
          </a:p>
          <a:p xmlns:a="http://schemas.openxmlformats.org/drawingml/2006/main">
            <a:r>
              <a:t>[Sources]</a:t>
            </a:r>
          </a:p>
          <a:p xmlns:a="http://schemas.openxmlformats.org/drawingml/2006/main">
            <a:r>
              <a:t>- https://academic.oup.com/nar/article/46/22/e134/5078231</a:t>
            </a:r>
          </a:p>
          <a:p xmlns:a="http://schemas.openxmlformats.org/drawingml/2006/main">
            <a:r>
              <a:t>- https://www.nature.com/articles/s41467-018-07370-z</a:t>
            </a:r>
          </a:p>
          <a:p xmlns:a="http://schemas.openxmlformats.org/drawingml/2006/main">
            <a:r>
              <a:t>- https://doi.org/10.1099/mgen.0.001005</a:t>
            </a:r>
          </a:p>
          <a:p xmlns:a="http://schemas.openxmlformats.org/drawingml/2006/main">
            <a:r>
              <a:t>- https://www.frontiersin.org/journals/microbiology/articles/10.3389/fmicb.2019.00542/full</a:t>
            </a:r>
          </a:p>
          <a:p xmlns:a="http://schemas.openxmlformats.org/drawingml/2006/main">
            <a:r>
              <a:t>- https://pubmed.ncbi.nlm.nih.gov/25771196/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workflow conceptual. First reconstruct the clonal evolutionary history, correcting recombination. Second attach collection dates with their real precision. Third ask whether those dates explain more divergence than random dates. Only then fit the molecular clock and express branches in calendar time. TreeTime, BactDating or other software can implement parts of this logic; the key point is the evidence gate. About 90 seconds.</a:t>
            </a:r>
          </a:p>
          <a:p xmlns:a="http://schemas.openxmlformats.org/drawingml/2006/main">
            <a:r>
              <a:t/>
            </a:r>
          </a:p>
          <a:p xmlns:a="http://schemas.openxmlformats.org/drawingml/2006/main">
            <a:r>
              <a:t>[Sources]</a:t>
            </a:r>
          </a:p>
          <a:p xmlns:a="http://schemas.openxmlformats.org/drawingml/2006/main">
            <a:r>
              <a:t>- https://journals.plos.org/ploscompbiol/article?id=10.1371/journal.pcbi.1004041</a:t>
            </a:r>
          </a:p>
          <a:p xmlns:a="http://schemas.openxmlformats.org/drawingml/2006/main">
            <a:r>
              <a:t>- https://academic.oup.com/ve/article/4/1/vex042/4794731</a:t>
            </a:r>
          </a:p>
          <a:p xmlns:a="http://schemas.openxmlformats.org/drawingml/2006/main">
            <a:r>
              <a:t>- https://academic.oup.com/nar/article/46/22/e134/5078231</a:t>
            </a:r>
          </a:p>
          <a:p xmlns:a="http://schemas.openxmlformats.org/drawingml/2006/main">
            <a:r>
              <a:t>- https://discovery.ucl.ac.uk/id/eprint/1483140/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time-scaled tree has the same topology as an evolutionary tree, but its horizontal axis is calendar time. The observed tips are anchored by collection dates. The clock model estimates when internal ancestors existed and attaches uncertainty to those dates. It does not reconstruct a chain of person-to-person transmission. About 90 seconds.</a:t>
            </a:r>
          </a:p>
          <a:p xmlns:a="http://schemas.openxmlformats.org/drawingml/2006/main">
            <a:r>
              <a:t/>
            </a:r>
          </a:p>
          <a:p xmlns:a="http://schemas.openxmlformats.org/drawingml/2006/main">
            <a:r>
              <a:t>[Sources]</a:t>
            </a:r>
          </a:p>
          <a:p xmlns:a="http://schemas.openxmlformats.org/drawingml/2006/main">
            <a:r>
              <a:t>- https://academic.oup.com/ve/article/4/1/vex042/4794731</a:t>
            </a:r>
          </a:p>
          <a:p xmlns:a="http://schemas.openxmlformats.org/drawingml/2006/main">
            <a:r>
              <a:t>- https://discovery.ucl.ac.uk/id/eprint/1483140/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does not answer these questions automatically, but it makes them testable. We can ask when a local group shared an ancestor, whether later isolates descend from diversity already seen locally, and whether the sampled pattern is more consistent with persistence or repeated introduction. Those remain hypotheses until combined with patient, place and contextual sampling. About 90 seconds.</a:t>
            </a:r>
          </a:p>
          <a:p xmlns:a="http://schemas.openxmlformats.org/drawingml/2006/main">
            <a:r>
              <a:t/>
            </a:r>
          </a:p>
          <a:p xmlns:a="http://schemas.openxmlformats.org/drawingml/2006/main">
            <a:r>
              <a:t>[Sources]</a:t>
            </a:r>
          </a:p>
          <a:p xmlns:a="http://schemas.openxmlformats.org/drawingml/2006/main">
            <a:r>
              <a:t>- https://discovery.ucl.ac.uk/id/eprint/1483140/</a:t>
            </a:r>
          </a:p>
          <a:p xmlns:a="http://schemas.openxmlformats.org/drawingml/2006/main">
            <a:r>
              <a:t>- https://academic.oup.com/ve/article/4/1/vex042/4794731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benefit is not simply a prettier tree. It is a more disciplined question and a transparent chain from data to interpretation. It can focus epidemiological review and highlight where more sampling is worth doing. But it is not a transmission tree, it cannot count introductions directly and it remains sensitive to incomplete context and missing metadata. About 90 seconds.</a:t>
            </a:r>
          </a:p>
          <a:p xmlns:a="http://schemas.openxmlformats.org/drawingml/2006/main">
            <a:r>
              <a:t/>
            </a:r>
          </a:p>
          <a:p xmlns:a="http://schemas.openxmlformats.org/drawingml/2006/main">
            <a:r>
              <a:t>[Sources]</a:t>
            </a:r>
          </a:p>
          <a:p xmlns:a="http://schemas.openxmlformats.org/drawingml/2006/main">
            <a:r>
              <a:t>- https://discovery.ucl.ac.uk/id/eprint/1483140/</a:t>
            </a:r>
          </a:p>
          <a:p xmlns:a="http://schemas.openxmlformats.org/drawingml/2006/main">
            <a:r>
              <a:t>- https://github.com/ghruproject/chronoclade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three ideas. Relatedness alone does not supply a calendar. Sampling dates only help when sufficient change accumulated over the observed window. Temporal signal must therefore be tested before dating, and a negative result is scientifically useful. Then invite discussion about which E. coli or Klebsiella ST has the minimum data needed to try this. About one minute.</a:t>
            </a:r>
          </a:p>
          <a:p xmlns:a="http://schemas.openxmlformats.org/drawingml/2006/main">
            <a:r>
              <a:t/>
            </a:r>
          </a:p>
          <a:p xmlns:a="http://schemas.openxmlformats.org/drawingml/2006/main">
            <a:r>
              <a:t>[Sources]</a:t>
            </a:r>
          </a:p>
          <a:p xmlns:a="http://schemas.openxmlformats.org/drawingml/2006/main">
            <a:r>
              <a:t>- https://discovery.ucl.ac.uk/id/eprint/1483140/</a:t>
            </a:r>
          </a:p>
          <a:p xmlns:a="http://schemas.openxmlformats.org/drawingml/2006/main">
            <a:r>
              <a:t>- https://pubmed.ncbi.nlm.nih.gov/25771196/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c9cbd804fb4a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b6754e7ab244e7" /><Relationship Type="http://schemas.openxmlformats.org/officeDocument/2006/relationships/slideLayout" Target="/ppt/slideLayouts/slideLayout1.xml" Id="R89362524691e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362524691e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7400f376e34443" /><Relationship Type="http://schemas.openxmlformats.org/officeDocument/2006/relationships/notesSlide" Target="/ppt/notesSlides/notesSlide1.xml" Id="R1148e710aa524a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4f873385764e9f" /><Relationship Type="http://schemas.openxmlformats.org/officeDocument/2006/relationships/notesSlide" Target="/ppt/notesSlides/notesSlide2.xml" Id="R2a4433b6c62942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76dbed10ec4492" /><Relationship Type="http://schemas.openxmlformats.org/officeDocument/2006/relationships/notesSlide" Target="/ppt/notesSlides/notesSlide3.xml" Id="R94288b84e93345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0ab22ea8be471c" /><Relationship Type="http://schemas.openxmlformats.org/officeDocument/2006/relationships/notesSlide" Target="/ppt/notesSlides/notesSlide4.xml" Id="R8ca06534edc04f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69fd01b05e432f" /><Relationship Type="http://schemas.openxmlformats.org/officeDocument/2006/relationships/notesSlide" Target="/ppt/notesSlides/notesSlide5.xml" Id="R500d17b2b1074c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17eea850254993" /><Relationship Type="http://schemas.openxmlformats.org/officeDocument/2006/relationships/notesSlide" Target="/ppt/notesSlides/notesSlide6.xml" Id="R703e60af99d144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17c041471946a1" /><Relationship Type="http://schemas.openxmlformats.org/officeDocument/2006/relationships/notesSlide" Target="/ppt/notesSlides/notesSlide7.xml" Id="Rca0eafed54c44c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615a47df394120" /><Relationship Type="http://schemas.openxmlformats.org/officeDocument/2006/relationships/notesSlide" Target="/ppt/notesSlides/notesSlide8.xml" Id="R227bae282b5346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4385a108d54353" /><Relationship Type="http://schemas.openxmlformats.org/officeDocument/2006/relationships/notesSlide" Target="/ppt/notesSlides/notesSlide9.xml" Id="R3dc1bef2841443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bc479e1f8e440e" /><Relationship Type="http://schemas.openxmlformats.org/officeDocument/2006/relationships/notesSlide" Target="/ppt/notesSlides/notesSlide10.xml" Id="R2f3ebc47cf2846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d7b0f5fb2c4036" /><Relationship Type="http://schemas.openxmlformats.org/officeDocument/2006/relationships/notesSlide" Target="/ppt/notesSlides/notesSlide11.xml" Id="R3ec838a78d7447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fca065d0b24f87" /><Relationship Type="http://schemas.openxmlformats.org/officeDocument/2006/relationships/notesSlide" Target="/ppt/notesSlides/notesSlide12.xml" Id="R5a46e4a1ca1047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371494-CA10-48EE-B9BD-8599CF85AD19}"/>
              </a:ext>
            </a:extLst>
          </p:cNvPr>
          <p:cNvSpPr>
            <a:spLocks xmlns:a="http://schemas.openxmlformats.org/drawingml/2006/main" noGrp="1"/>
          </p:cNvSpPr>
          <p:nvPr/>
        </p:nvSpPr>
        <p:spPr>
          <a:xfrm xmlns:a="http://schemas.openxmlformats.org/drawingml/2006/main">
            <a:off x="457200" y="400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C6470"/>
                </a:solidFill>
                <a:latin typeface="Helvetica Neue"/>
                <a:ea typeface="Helvetica Neue"/>
                <a:cs typeface="Helvetica Neue"/>
              </a:defRPr>
            </a:pPr>
            <a:r>
              <a:rPr sz="1800" b="1">
                <a:solidFill>
                  <a:srgbClr val="5C6470"/>
                </a:solidFill>
                <a:latin typeface="Helvetica Neue"/>
                <a:ea typeface="Helvetica Neue"/>
                <a:cs typeface="Helvetica Neue"/>
              </a:rPr>
              <a:t>TGBIF DISCUSSION</a:t>
            </a:r>
          </a:p>
        </p:txBody>
      </p:sp>
      <p:sp>
        <p:nvSpPr>
          <p:cNvPr id="2" name="cover-title">
            <a:extLst xmlns:a="http://schemas.openxmlformats.org/drawingml/2006/main">
              <a:ext uri="{FF2B5EF4-FFF2-40B4-BE49-F238E27FC236}">
                <a16:creationId xmlns:a16="http://schemas.microsoft.com/office/drawing/2014/main" id="{FE1C61D8-E720-49F3-94B6-38FFCD6B4FB5}"/>
              </a:ext>
            </a:extLst>
          </p:cNvPr>
          <p:cNvSpPr>
            <a:spLocks xmlns:a="http://schemas.openxmlformats.org/drawingml/2006/main" noGrp="1"/>
          </p:cNvSpPr>
          <p:nvPr/>
        </p:nvSpPr>
        <p:spPr>
          <a:xfrm xmlns:a="http://schemas.openxmlformats.org/drawingml/2006/main">
            <a:off x="457200" y="1666875"/>
            <a:ext cx="9906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buNone/>
              <a:defRPr sz="5100" b="1">
                <a:solidFill>
                  <a:srgbClr val="000000"/>
                </a:solidFill>
                <a:latin typeface="Helvetica Neue"/>
                <a:ea typeface="Helvetica Neue"/>
                <a:cs typeface="Helvetica Neue"/>
              </a:defRPr>
            </a:pPr>
            <a:r>
              <a:rPr sz="5100" b="1">
                <a:solidFill>
                  <a:srgbClr val="000000"/>
                </a:solidFill>
                <a:latin typeface="Helvetica Neue"/>
                <a:ea typeface="Helvetica Neue"/>
                <a:cs typeface="Helvetica Neue"/>
              </a:rPr>
              <a:t>ChronoClade</a:t>
            </a:r>
            <a:r>
              <a:rPr sz="5100" b="1">
                <a:solidFill>
                  <a:srgbClr val="000000"/>
                </a:solidFill>
                <a:latin typeface="Helvetica Neue"/>
                <a:ea typeface="Helvetica Neue"/>
                <a:cs typeface="Helvetica Neue"/>
              </a:rPr>
              <a:t>:</a:t>
            </a:r>
          </a:p>
          <a:p xmlns:a="http://schemas.openxmlformats.org/drawingml/2006/main">
            <a:pPr algn="l">
              <a:buNone/>
              <a:defRPr sz="5100" b="1">
                <a:solidFill>
                  <a:srgbClr val="000000"/>
                </a:solidFill>
                <a:latin typeface="Helvetica Neue"/>
                <a:ea typeface="Helvetica Neue"/>
                <a:cs typeface="Helvetica Neue"/>
              </a:defRPr>
            </a:pPr>
            <a:r>
              <a:rPr sz="5100" b="1">
                <a:solidFill>
                  <a:srgbClr val="000000"/>
                </a:solidFill>
                <a:latin typeface="Helvetica Neue"/>
                <a:ea typeface="Helvetica Neue"/>
                <a:cs typeface="Helvetica Neue"/>
              </a:rPr>
              <a:t>when did a clone arrive?</a:t>
            </a:r>
          </a:p>
        </p:txBody>
      </p:sp>
      <p:sp>
        <p:nvSpPr>
          <p:cNvPr id="3" name="">
            <a:extLst xmlns:a="http://schemas.openxmlformats.org/drawingml/2006/main">
              <a:ext uri="{FF2B5EF4-FFF2-40B4-BE49-F238E27FC236}">
                <a16:creationId xmlns:a16="http://schemas.microsoft.com/office/drawing/2014/main" id="{520B18B2-2DCA-48C9-9D87-913B2516C391}"/>
              </a:ext>
            </a:extLst>
          </p:cNvPr>
          <p:cNvSpPr>
            <a:spLocks xmlns:a="http://schemas.openxmlformats.org/drawingml/2006/main" noGrp="1"/>
          </p:cNvSpPr>
          <p:nvPr/>
        </p:nvSpPr>
        <p:spPr>
          <a:xfrm xmlns:a="http://schemas.openxmlformats.org/drawingml/2006/main">
            <a:off x="457200" y="4495800"/>
            <a:ext cx="1143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BED93C-7674-406C-9785-0BA098C08C04}"/>
              </a:ext>
            </a:extLst>
          </p:cNvPr>
          <p:cNvSpPr>
            <a:spLocks xmlns:a="http://schemas.openxmlformats.org/drawingml/2006/main" noGrp="1"/>
          </p:cNvSpPr>
          <p:nvPr/>
        </p:nvSpPr>
        <p:spPr>
          <a:xfrm xmlns:a="http://schemas.openxmlformats.org/drawingml/2006/main">
            <a:off x="457200" y="4810125"/>
            <a:ext cx="800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5C6470"/>
                </a:solidFill>
                <a:latin typeface="Helvetica Neue"/>
                <a:ea typeface="Helvetica Neue"/>
                <a:cs typeface="Helvetica Neue"/>
              </a:defRPr>
            </a:pPr>
            <a:r>
              <a:rPr sz="2025" b="0">
                <a:solidFill>
                  <a:srgbClr val="5C6470"/>
                </a:solidFill>
                <a:latin typeface="Helvetica Neue"/>
                <a:ea typeface="Helvetica Neue"/>
                <a:cs typeface="Helvetica Neue"/>
              </a:rPr>
              <a:t>Time-resolved, context-aware bacterial phylogenetics for public health</a:t>
            </a:r>
          </a:p>
        </p:txBody>
      </p:sp>
      <p:sp>
        <p:nvSpPr>
          <p:cNvPr id="5" name="">
            <a:extLst xmlns:a="http://schemas.openxmlformats.org/drawingml/2006/main">
              <a:ext uri="{FF2B5EF4-FFF2-40B4-BE49-F238E27FC236}">
                <a16:creationId xmlns:a16="http://schemas.microsoft.com/office/drawing/2014/main" id="{BE56C864-A414-490C-8C0D-B36E0AD4ED15}"/>
              </a:ext>
            </a:extLst>
          </p:cNvPr>
          <p:cNvSpPr>
            <a:spLocks xmlns:a="http://schemas.openxmlformats.org/drawingml/2006/main" noGrp="1"/>
          </p:cNvSpPr>
          <p:nvPr/>
        </p:nvSpPr>
        <p:spPr>
          <a:xfrm xmlns:a="http://schemas.openxmlformats.org/drawingml/2006/main">
            <a:off x="457200" y="59721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Nabil-Fareed Alikhan · 28 August 2026</a:t>
            </a:r>
          </a:p>
        </p:txBody>
      </p:sp>
    </p:spTree>
    <p:extLst>
      <p:ext uri="{BB962C8B-B14F-4D97-AF65-F5344CB8AC3E}">
        <p14:creationId xmlns:p14="http://schemas.microsoft.com/office/powerpoint/2010/main" val="14309979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slide-2-title">
            <a:extLst xmlns:a="http://schemas.openxmlformats.org/drawingml/2006/main">
              <a:ext uri="{FF2B5EF4-FFF2-40B4-BE49-F238E27FC236}">
                <a16:creationId xmlns:a16="http://schemas.microsoft.com/office/drawing/2014/main" id="{5871002C-E065-4A7B-B128-AEBFB8FB0290}"/>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The public-health question starts where MLST stops</a:t>
            </a:r>
          </a:p>
        </p:txBody>
      </p:sp>
      <p:cxnSp>
        <p:nvCxnSpPr>
          <p:cNvPr id="90"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5F0A9EF8-EB50-4948-B929-EC5AB26AA970}"/>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124BFDB3-345B-4DA9-B4E1-FB5DB5AF1191}"/>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9BA2242F-D736-444D-9689-68D68959A99A}"/>
              </a:ext>
            </a:extLst>
          </p:cNvPr>
          <p:cNvSpPr>
            <a:spLocks xmlns:a="http://schemas.openxmlformats.org/drawingml/2006/main" noGrp="1"/>
          </p:cNvSpPr>
          <p:nvPr/>
        </p:nvSpPr>
        <p:spPr>
          <a:xfrm xmlns:a="http://schemas.openxmlformats.org/drawingml/2006/main">
            <a:off x="1000125" y="15716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Same ST</a:t>
            </a:r>
          </a:p>
        </p:txBody>
      </p:sp>
      <p:sp>
        <p:nvSpPr>
          <p:cNvPr id="6" name="">
            <a:extLst xmlns:a="http://schemas.openxmlformats.org/drawingml/2006/main">
              <a:ext uri="{FF2B5EF4-FFF2-40B4-BE49-F238E27FC236}">
                <a16:creationId xmlns:a16="http://schemas.microsoft.com/office/drawing/2014/main" id="{7F3522DA-D0CF-43AA-B93A-8D728784F625}"/>
              </a:ext>
            </a:extLst>
          </p:cNvPr>
          <p:cNvSpPr>
            <a:spLocks xmlns:a="http://schemas.openxmlformats.org/drawingml/2006/main" noGrp="1"/>
          </p:cNvSpPr>
          <p:nvPr/>
        </p:nvSpPr>
        <p:spPr>
          <a:xfrm xmlns:a="http://schemas.openxmlformats.org/drawingml/2006/main">
            <a:off x="1000125" y="19526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Persistent local lineage</a:t>
            </a:r>
          </a:p>
        </p:txBody>
      </p:sp>
      <p:cxnSp>
        <p:nvCxnSpPr>
          <p:cNvPr id="95" name=""/>
          <p:cNvCxnSpPr/>
          <p:nvPr/>
        </p:nvCxnSpPr>
        <p:spPr>
          <a:xfrm xmlns:a="http://schemas.openxmlformats.org/drawingml/2006/main">
            <a:off x="1428750" y="3714750"/>
            <a:ext cx="8096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96" name=""/>
          <p:cNvCxnSpPr/>
          <p:nvPr/>
        </p:nvCxnSpPr>
        <p:spPr>
          <a:xfrm xmlns:a="http://schemas.openxmlformats.org/drawingml/2006/main">
            <a:off x="2238375" y="3076575"/>
            <a:ext cx="0" cy="1276350"/>
          </a:xfrm>
          <a:prstGeom xmlns:a="http://schemas.openxmlformats.org/drawingml/2006/main" prst="straightConnector1">
            <a:avLst/>
          </a:prstGeom>
          <a:ln xmlns:a="http://schemas.openxmlformats.org/drawingml/2006/main" w="19050">
            <a:solidFill>
              <a:srgbClr val="000000"/>
            </a:solidFill>
            <a:prstDash val="solid"/>
          </a:ln>
        </p:spPr>
      </p:cxnSp>
      <p:cxnSp>
        <p:nvCxnSpPr>
          <p:cNvPr id="97" name=""/>
          <p:cNvCxnSpPr/>
          <p:nvPr/>
        </p:nvCxnSpPr>
        <p:spPr>
          <a:xfrm xmlns:a="http://schemas.openxmlformats.org/drawingml/2006/main">
            <a:off x="2238375" y="3076575"/>
            <a:ext cx="10001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98" name=""/>
          <p:cNvCxnSpPr/>
          <p:nvPr/>
        </p:nvCxnSpPr>
        <p:spPr>
          <a:xfrm xmlns:a="http://schemas.openxmlformats.org/drawingml/2006/main">
            <a:off x="2238375" y="3714750"/>
            <a:ext cx="10001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99" name=""/>
          <p:cNvCxnSpPr/>
          <p:nvPr/>
        </p:nvCxnSpPr>
        <p:spPr>
          <a:xfrm xmlns:a="http://schemas.openxmlformats.org/drawingml/2006/main">
            <a:off x="2238375" y="4352925"/>
            <a:ext cx="10001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100" name=""/>
          <p:cNvCxnSpPr/>
          <p:nvPr/>
        </p:nvCxnSpPr>
        <p:spPr>
          <a:xfrm xmlns:a="http://schemas.openxmlformats.org/drawingml/2006/main">
            <a:off x="3238500" y="3076575"/>
            <a:ext cx="0" cy="1276350"/>
          </a:xfrm>
          <a:prstGeom xmlns:a="http://schemas.openxmlformats.org/drawingml/2006/main" prst="straightConnector1">
            <a:avLst/>
          </a:prstGeom>
          <a:ln xmlns:a="http://schemas.openxmlformats.org/drawingml/2006/main" w="38100">
            <a:solidFill>
              <a:srgbClr val="3D8DFF"/>
            </a:solidFill>
            <a:prstDash val="solid"/>
          </a:ln>
        </p:spPr>
      </p:cxnSp>
      <p:cxnSp>
        <p:nvCxnSpPr>
          <p:cNvPr id="101" name=""/>
          <p:cNvCxnSpPr/>
          <p:nvPr/>
        </p:nvCxnSpPr>
        <p:spPr>
          <a:xfrm xmlns:a="http://schemas.openxmlformats.org/drawingml/2006/main">
            <a:off x="3238500" y="3076575"/>
            <a:ext cx="8572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102" name=""/>
          <p:cNvCxnSpPr/>
          <p:nvPr/>
        </p:nvCxnSpPr>
        <p:spPr>
          <a:xfrm xmlns:a="http://schemas.openxmlformats.org/drawingml/2006/main">
            <a:off x="3238500" y="3714750"/>
            <a:ext cx="8572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103" name=""/>
          <p:cNvCxnSpPr/>
          <p:nvPr/>
        </p:nvCxnSpPr>
        <p:spPr>
          <a:xfrm xmlns:a="http://schemas.openxmlformats.org/drawingml/2006/main">
            <a:off x="3238500" y="4352925"/>
            <a:ext cx="857250" cy="0"/>
          </a:xfrm>
          <a:prstGeom xmlns:a="http://schemas.openxmlformats.org/drawingml/2006/main" prst="straightConnector1">
            <a:avLst/>
          </a:prstGeom>
          <a:ln xmlns:a="http://schemas.openxmlformats.org/drawingml/2006/main" w="19050">
            <a:solidFill>
              <a:srgbClr val="3D8DFF"/>
            </a:solidFill>
            <a:prstDash val="solid"/>
          </a:ln>
        </p:spPr>
      </p:cxnSp>
      <p:sp>
        <p:nvSpPr>
          <p:cNvPr id="16" name="">
            <a:extLst xmlns:a="http://schemas.openxmlformats.org/drawingml/2006/main">
              <a:ext uri="{FF2B5EF4-FFF2-40B4-BE49-F238E27FC236}">
                <a16:creationId xmlns:a16="http://schemas.microsoft.com/office/drawing/2014/main" id="{3A8E0587-FC0D-4B7B-9950-C49F58503013}"/>
              </a:ext>
            </a:extLst>
          </p:cNvPr>
          <p:cNvSpPr>
            <a:spLocks xmlns:a="http://schemas.openxmlformats.org/drawingml/2006/main" noGrp="1"/>
          </p:cNvSpPr>
          <p:nvPr/>
        </p:nvSpPr>
        <p:spPr>
          <a:xfrm xmlns:a="http://schemas.openxmlformats.org/drawingml/2006/main">
            <a:off x="4048125" y="3009900"/>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7" name="">
            <a:extLst xmlns:a="http://schemas.openxmlformats.org/drawingml/2006/main">
              <a:ext uri="{FF2B5EF4-FFF2-40B4-BE49-F238E27FC236}">
                <a16:creationId xmlns:a16="http://schemas.microsoft.com/office/drawing/2014/main" id="{B1B129FF-C8FA-45B3-84DC-6FE1B374A077}"/>
              </a:ext>
            </a:extLst>
          </p:cNvPr>
          <p:cNvSpPr>
            <a:spLocks xmlns:a="http://schemas.openxmlformats.org/drawingml/2006/main" noGrp="1"/>
          </p:cNvSpPr>
          <p:nvPr/>
        </p:nvSpPr>
        <p:spPr>
          <a:xfrm xmlns:a="http://schemas.openxmlformats.org/drawingml/2006/main">
            <a:off x="4048125" y="3648075"/>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6E783C89-B185-477C-BF81-23341229641C}"/>
              </a:ext>
            </a:extLst>
          </p:cNvPr>
          <p:cNvSpPr>
            <a:spLocks xmlns:a="http://schemas.openxmlformats.org/drawingml/2006/main" noGrp="1"/>
          </p:cNvSpPr>
          <p:nvPr/>
        </p:nvSpPr>
        <p:spPr>
          <a:xfrm xmlns:a="http://schemas.openxmlformats.org/drawingml/2006/main">
            <a:off x="4048125" y="4286250"/>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0AC45B19-976F-471C-A0B7-27F9B0592D77}"/>
              </a:ext>
            </a:extLst>
          </p:cNvPr>
          <p:cNvSpPr>
            <a:spLocks xmlns:a="http://schemas.openxmlformats.org/drawingml/2006/main" noGrp="1"/>
          </p:cNvSpPr>
          <p:nvPr/>
        </p:nvSpPr>
        <p:spPr>
          <a:xfrm xmlns:a="http://schemas.openxmlformats.org/drawingml/2006/main">
            <a:off x="1314450" y="3648075"/>
            <a:ext cx="133350" cy="1333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sp>
      <p:sp>
        <p:nvSpPr>
          <p:cNvPr id="20" name="">
            <a:extLst xmlns:a="http://schemas.openxmlformats.org/drawingml/2006/main">
              <a:ext uri="{FF2B5EF4-FFF2-40B4-BE49-F238E27FC236}">
                <a16:creationId xmlns:a16="http://schemas.microsoft.com/office/drawing/2014/main" id="{D22B2623-89AA-4D13-B7F6-AAAD649EFA18}"/>
              </a:ext>
            </a:extLst>
          </p:cNvPr>
          <p:cNvSpPr>
            <a:spLocks xmlns:a="http://schemas.openxmlformats.org/drawingml/2006/main" noGrp="1"/>
          </p:cNvSpPr>
          <p:nvPr/>
        </p:nvSpPr>
        <p:spPr>
          <a:xfrm xmlns:a="http://schemas.openxmlformats.org/drawingml/2006/main">
            <a:off x="1000125" y="5095875"/>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One local group is sampled repeatedly through time.</a:t>
            </a:r>
          </a:p>
        </p:txBody>
      </p:sp>
      <p:sp>
        <p:nvSpPr>
          <p:cNvPr id="21" name="">
            <a:extLst xmlns:a="http://schemas.openxmlformats.org/drawingml/2006/main">
              <a:ext uri="{FF2B5EF4-FFF2-40B4-BE49-F238E27FC236}">
                <a16:creationId xmlns:a16="http://schemas.microsoft.com/office/drawing/2014/main" id="{CF4A7EBB-F025-45B5-B8E2-CF2C9D1AA86D}"/>
              </a:ext>
            </a:extLst>
          </p:cNvPr>
          <p:cNvSpPr>
            <a:spLocks xmlns:a="http://schemas.openxmlformats.org/drawingml/2006/main" noGrp="1"/>
          </p:cNvSpPr>
          <p:nvPr/>
        </p:nvSpPr>
        <p:spPr>
          <a:xfrm xmlns:a="http://schemas.openxmlformats.org/drawingml/2006/main">
            <a:off x="6810375" y="15716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Same ST</a:t>
            </a:r>
          </a:p>
        </p:txBody>
      </p:sp>
      <p:sp>
        <p:nvSpPr>
          <p:cNvPr id="22" name="">
            <a:extLst xmlns:a="http://schemas.openxmlformats.org/drawingml/2006/main">
              <a:ext uri="{FF2B5EF4-FFF2-40B4-BE49-F238E27FC236}">
                <a16:creationId xmlns:a16="http://schemas.microsoft.com/office/drawing/2014/main" id="{6B9D5447-ADE5-4305-9CCD-E5C17FFF7616}"/>
              </a:ext>
            </a:extLst>
          </p:cNvPr>
          <p:cNvSpPr>
            <a:spLocks xmlns:a="http://schemas.openxmlformats.org/drawingml/2006/main" noGrp="1"/>
          </p:cNvSpPr>
          <p:nvPr/>
        </p:nvSpPr>
        <p:spPr>
          <a:xfrm xmlns:a="http://schemas.openxmlformats.org/drawingml/2006/main">
            <a:off x="6810375" y="19526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Repeated introductions</a:t>
            </a:r>
          </a:p>
        </p:txBody>
      </p:sp>
      <p:cxnSp>
        <p:nvCxnSpPr>
          <p:cNvPr id="111" name=""/>
          <p:cNvCxnSpPr/>
          <p:nvPr/>
        </p:nvCxnSpPr>
        <p:spPr>
          <a:xfrm xmlns:a="http://schemas.openxmlformats.org/drawingml/2006/main">
            <a:off x="7286625" y="3714750"/>
            <a:ext cx="590550"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112" name=""/>
          <p:cNvCxnSpPr/>
          <p:nvPr/>
        </p:nvCxnSpPr>
        <p:spPr>
          <a:xfrm xmlns:a="http://schemas.openxmlformats.org/drawingml/2006/main">
            <a:off x="7877175" y="3000375"/>
            <a:ext cx="0" cy="1428750"/>
          </a:xfrm>
          <a:prstGeom xmlns:a="http://schemas.openxmlformats.org/drawingml/2006/main" prst="straightConnector1">
            <a:avLst/>
          </a:prstGeom>
          <a:ln xmlns:a="http://schemas.openxmlformats.org/drawingml/2006/main" w="19050">
            <a:solidFill>
              <a:srgbClr val="000000"/>
            </a:solidFill>
            <a:prstDash val="solid"/>
          </a:ln>
        </p:spPr>
      </p:cxnSp>
      <p:cxnSp>
        <p:nvCxnSpPr>
          <p:cNvPr id="113" name=""/>
          <p:cNvCxnSpPr/>
          <p:nvPr/>
        </p:nvCxnSpPr>
        <p:spPr>
          <a:xfrm xmlns:a="http://schemas.openxmlformats.org/drawingml/2006/main">
            <a:off x="7877175" y="3000375"/>
            <a:ext cx="8858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114" name=""/>
          <p:cNvCxnSpPr/>
          <p:nvPr/>
        </p:nvCxnSpPr>
        <p:spPr>
          <a:xfrm xmlns:a="http://schemas.openxmlformats.org/drawingml/2006/main">
            <a:off x="8763000" y="2809875"/>
            <a:ext cx="0" cy="381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15" name=""/>
          <p:cNvCxnSpPr/>
          <p:nvPr/>
        </p:nvCxnSpPr>
        <p:spPr>
          <a:xfrm xmlns:a="http://schemas.openxmlformats.org/drawingml/2006/main">
            <a:off x="8763000" y="2809875"/>
            <a:ext cx="904875"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116" name=""/>
          <p:cNvCxnSpPr/>
          <p:nvPr/>
        </p:nvCxnSpPr>
        <p:spPr>
          <a:xfrm xmlns:a="http://schemas.openxmlformats.org/drawingml/2006/main">
            <a:off x="8763000" y="3190875"/>
            <a:ext cx="904875" cy="0"/>
          </a:xfrm>
          <a:prstGeom xmlns:a="http://schemas.openxmlformats.org/drawingml/2006/main" prst="straightConnector1">
            <a:avLst/>
          </a:prstGeom>
          <a:ln xmlns:a="http://schemas.openxmlformats.org/drawingml/2006/main" w="19050">
            <a:solidFill>
              <a:srgbClr val="000000"/>
            </a:solidFill>
            <a:prstDash val="solid"/>
          </a:ln>
        </p:spPr>
      </p:cxnSp>
      <p:sp>
        <p:nvSpPr>
          <p:cNvPr id="29" name="">
            <a:extLst xmlns:a="http://schemas.openxmlformats.org/drawingml/2006/main">
              <a:ext uri="{FF2B5EF4-FFF2-40B4-BE49-F238E27FC236}">
                <a16:creationId xmlns:a16="http://schemas.microsoft.com/office/drawing/2014/main" id="{0AE8A87C-0E83-4491-9A3B-8B8756B5F4D5}"/>
              </a:ext>
            </a:extLst>
          </p:cNvPr>
          <p:cNvSpPr>
            <a:spLocks xmlns:a="http://schemas.openxmlformats.org/drawingml/2006/main" noGrp="1"/>
          </p:cNvSpPr>
          <p:nvPr/>
        </p:nvSpPr>
        <p:spPr>
          <a:xfrm xmlns:a="http://schemas.openxmlformats.org/drawingml/2006/main">
            <a:off x="9620250" y="2743200"/>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0" name="">
            <a:extLst xmlns:a="http://schemas.openxmlformats.org/drawingml/2006/main">
              <a:ext uri="{FF2B5EF4-FFF2-40B4-BE49-F238E27FC236}">
                <a16:creationId xmlns:a16="http://schemas.microsoft.com/office/drawing/2014/main" id="{76D2D421-E8A5-480A-8091-8FCF2CE40C0E}"/>
              </a:ext>
            </a:extLst>
          </p:cNvPr>
          <p:cNvSpPr>
            <a:spLocks xmlns:a="http://schemas.openxmlformats.org/drawingml/2006/main" noGrp="1"/>
          </p:cNvSpPr>
          <p:nvPr/>
        </p:nvSpPr>
        <p:spPr>
          <a:xfrm xmlns:a="http://schemas.openxmlformats.org/drawingml/2006/main">
            <a:off x="9620250" y="3124200"/>
            <a:ext cx="133350" cy="1333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sp>
      <p:cxnSp>
        <p:nvCxnSpPr>
          <p:cNvPr id="119" name=""/>
          <p:cNvCxnSpPr/>
          <p:nvPr/>
        </p:nvCxnSpPr>
        <p:spPr>
          <a:xfrm xmlns:a="http://schemas.openxmlformats.org/drawingml/2006/main">
            <a:off x="7877175" y="3714750"/>
            <a:ext cx="8858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120" name=""/>
          <p:cNvCxnSpPr/>
          <p:nvPr/>
        </p:nvCxnSpPr>
        <p:spPr>
          <a:xfrm xmlns:a="http://schemas.openxmlformats.org/drawingml/2006/main">
            <a:off x="8763000" y="3524250"/>
            <a:ext cx="0" cy="381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21" name=""/>
          <p:cNvCxnSpPr/>
          <p:nvPr/>
        </p:nvCxnSpPr>
        <p:spPr>
          <a:xfrm xmlns:a="http://schemas.openxmlformats.org/drawingml/2006/main">
            <a:off x="8763000" y="3524250"/>
            <a:ext cx="904875"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122" name=""/>
          <p:cNvCxnSpPr/>
          <p:nvPr/>
        </p:nvCxnSpPr>
        <p:spPr>
          <a:xfrm xmlns:a="http://schemas.openxmlformats.org/drawingml/2006/main">
            <a:off x="8763000" y="3905250"/>
            <a:ext cx="904875" cy="0"/>
          </a:xfrm>
          <a:prstGeom xmlns:a="http://schemas.openxmlformats.org/drawingml/2006/main" prst="straightConnector1">
            <a:avLst/>
          </a:prstGeom>
          <a:ln xmlns:a="http://schemas.openxmlformats.org/drawingml/2006/main" w="19050">
            <a:solidFill>
              <a:srgbClr val="000000"/>
            </a:solidFill>
            <a:prstDash val="solid"/>
          </a:ln>
        </p:spPr>
      </p:cxnSp>
      <p:sp>
        <p:nvSpPr>
          <p:cNvPr id="35" name="">
            <a:extLst xmlns:a="http://schemas.openxmlformats.org/drawingml/2006/main">
              <a:ext uri="{FF2B5EF4-FFF2-40B4-BE49-F238E27FC236}">
                <a16:creationId xmlns:a16="http://schemas.microsoft.com/office/drawing/2014/main" id="{70BF563F-D600-4BDE-867A-74A5A3FC0366}"/>
              </a:ext>
            </a:extLst>
          </p:cNvPr>
          <p:cNvSpPr>
            <a:spLocks xmlns:a="http://schemas.openxmlformats.org/drawingml/2006/main" noGrp="1"/>
          </p:cNvSpPr>
          <p:nvPr/>
        </p:nvSpPr>
        <p:spPr>
          <a:xfrm xmlns:a="http://schemas.openxmlformats.org/drawingml/2006/main">
            <a:off x="9620250" y="3457575"/>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6" name="">
            <a:extLst xmlns:a="http://schemas.openxmlformats.org/drawingml/2006/main">
              <a:ext uri="{FF2B5EF4-FFF2-40B4-BE49-F238E27FC236}">
                <a16:creationId xmlns:a16="http://schemas.microsoft.com/office/drawing/2014/main" id="{DFED5EC8-C76D-4F16-BC4B-0BB88E603F32}"/>
              </a:ext>
            </a:extLst>
          </p:cNvPr>
          <p:cNvSpPr>
            <a:spLocks xmlns:a="http://schemas.openxmlformats.org/drawingml/2006/main" noGrp="1"/>
          </p:cNvSpPr>
          <p:nvPr/>
        </p:nvSpPr>
        <p:spPr>
          <a:xfrm xmlns:a="http://schemas.openxmlformats.org/drawingml/2006/main">
            <a:off x="9620250" y="3838575"/>
            <a:ext cx="133350" cy="1333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sp>
      <p:cxnSp>
        <p:nvCxnSpPr>
          <p:cNvPr id="125" name=""/>
          <p:cNvCxnSpPr/>
          <p:nvPr/>
        </p:nvCxnSpPr>
        <p:spPr>
          <a:xfrm xmlns:a="http://schemas.openxmlformats.org/drawingml/2006/main">
            <a:off x="7877175" y="4429125"/>
            <a:ext cx="885825"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
          <p:cNvCxnSpPr/>
          <p:nvPr/>
        </p:nvCxnSpPr>
        <p:spPr>
          <a:xfrm xmlns:a="http://schemas.openxmlformats.org/drawingml/2006/main">
            <a:off x="8763000" y="4238625"/>
            <a:ext cx="0" cy="381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
          <p:cNvCxnSpPr/>
          <p:nvPr/>
        </p:nvCxnSpPr>
        <p:spPr>
          <a:xfrm xmlns:a="http://schemas.openxmlformats.org/drawingml/2006/main">
            <a:off x="8763000" y="4238625"/>
            <a:ext cx="904875"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128" name=""/>
          <p:cNvCxnSpPr/>
          <p:nvPr/>
        </p:nvCxnSpPr>
        <p:spPr>
          <a:xfrm xmlns:a="http://schemas.openxmlformats.org/drawingml/2006/main">
            <a:off x="8763000" y="4619625"/>
            <a:ext cx="904875" cy="0"/>
          </a:xfrm>
          <a:prstGeom xmlns:a="http://schemas.openxmlformats.org/drawingml/2006/main" prst="straightConnector1">
            <a:avLst/>
          </a:prstGeom>
          <a:ln xmlns:a="http://schemas.openxmlformats.org/drawingml/2006/main" w="19050">
            <a:solidFill>
              <a:srgbClr val="000000"/>
            </a:solidFill>
            <a:prstDash val="solid"/>
          </a:ln>
        </p:spPr>
      </p:cxnSp>
      <p:sp>
        <p:nvSpPr>
          <p:cNvPr id="41" name="">
            <a:extLst xmlns:a="http://schemas.openxmlformats.org/drawingml/2006/main">
              <a:ext uri="{FF2B5EF4-FFF2-40B4-BE49-F238E27FC236}">
                <a16:creationId xmlns:a16="http://schemas.microsoft.com/office/drawing/2014/main" id="{D245AA05-0A0C-439C-8DB3-AFDEFA5D07B2}"/>
              </a:ext>
            </a:extLst>
          </p:cNvPr>
          <p:cNvSpPr>
            <a:spLocks xmlns:a="http://schemas.openxmlformats.org/drawingml/2006/main" noGrp="1"/>
          </p:cNvSpPr>
          <p:nvPr/>
        </p:nvSpPr>
        <p:spPr>
          <a:xfrm xmlns:a="http://schemas.openxmlformats.org/drawingml/2006/main">
            <a:off x="9620250" y="4171950"/>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42" name="">
            <a:extLst xmlns:a="http://schemas.openxmlformats.org/drawingml/2006/main">
              <a:ext uri="{FF2B5EF4-FFF2-40B4-BE49-F238E27FC236}">
                <a16:creationId xmlns:a16="http://schemas.microsoft.com/office/drawing/2014/main" id="{B26D7067-BB8D-4B71-BDCB-3254630AA94E}"/>
              </a:ext>
            </a:extLst>
          </p:cNvPr>
          <p:cNvSpPr>
            <a:spLocks xmlns:a="http://schemas.openxmlformats.org/drawingml/2006/main" noGrp="1"/>
          </p:cNvSpPr>
          <p:nvPr/>
        </p:nvSpPr>
        <p:spPr>
          <a:xfrm xmlns:a="http://schemas.openxmlformats.org/drawingml/2006/main">
            <a:off x="9620250" y="4552950"/>
            <a:ext cx="133350" cy="1333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sp>
      <p:sp>
        <p:nvSpPr>
          <p:cNvPr id="43" name="">
            <a:extLst xmlns:a="http://schemas.openxmlformats.org/drawingml/2006/main">
              <a:ext uri="{FF2B5EF4-FFF2-40B4-BE49-F238E27FC236}">
                <a16:creationId xmlns:a16="http://schemas.microsoft.com/office/drawing/2014/main" id="{EAAB7BAD-0957-46BF-9FBE-AAAAB1C47584}"/>
              </a:ext>
            </a:extLst>
          </p:cNvPr>
          <p:cNvSpPr>
            <a:spLocks xmlns:a="http://schemas.openxmlformats.org/drawingml/2006/main" noGrp="1"/>
          </p:cNvSpPr>
          <p:nvPr/>
        </p:nvSpPr>
        <p:spPr>
          <a:xfrm xmlns:a="http://schemas.openxmlformats.org/drawingml/2006/main">
            <a:off x="7172325" y="3648075"/>
            <a:ext cx="133350" cy="1333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sp>
      <p:sp>
        <p:nvSpPr>
          <p:cNvPr id="44" name="">
            <a:extLst xmlns:a="http://schemas.openxmlformats.org/drawingml/2006/main">
              <a:ext uri="{FF2B5EF4-FFF2-40B4-BE49-F238E27FC236}">
                <a16:creationId xmlns:a16="http://schemas.microsoft.com/office/drawing/2014/main" id="{8FAD357F-5B13-4700-BFA9-1CA47B22D72C}"/>
              </a:ext>
            </a:extLst>
          </p:cNvPr>
          <p:cNvSpPr>
            <a:spLocks xmlns:a="http://schemas.openxmlformats.org/drawingml/2006/main" noGrp="1"/>
          </p:cNvSpPr>
          <p:nvPr/>
        </p:nvSpPr>
        <p:spPr>
          <a:xfrm xmlns:a="http://schemas.openxmlformats.org/drawingml/2006/main">
            <a:off x="6810375" y="509587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Local isolates sit in separated groups beside different contextual genomes.</a:t>
            </a:r>
          </a:p>
        </p:txBody>
      </p:sp>
      <p:sp>
        <p:nvSpPr>
          <p:cNvPr id="45" name="">
            <a:extLst xmlns:a="http://schemas.openxmlformats.org/drawingml/2006/main">
              <a:ext uri="{FF2B5EF4-FFF2-40B4-BE49-F238E27FC236}">
                <a16:creationId xmlns:a16="http://schemas.microsoft.com/office/drawing/2014/main" id="{4C3F0D3A-D2D4-47A8-8A17-BAAE4893434D}"/>
              </a:ext>
            </a:extLst>
          </p:cNvPr>
          <p:cNvSpPr>
            <a:spLocks xmlns:a="http://schemas.openxmlformats.org/drawingml/2006/main" noGrp="1"/>
          </p:cNvSpPr>
          <p:nvPr/>
        </p:nvSpPr>
        <p:spPr>
          <a:xfrm xmlns:a="http://schemas.openxmlformats.org/drawingml/2006/main">
            <a:off x="9620250" y="6038850"/>
            <a:ext cx="114300" cy="1143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46" name="">
            <a:extLst xmlns:a="http://schemas.openxmlformats.org/drawingml/2006/main">
              <a:ext uri="{FF2B5EF4-FFF2-40B4-BE49-F238E27FC236}">
                <a16:creationId xmlns:a16="http://schemas.microsoft.com/office/drawing/2014/main" id="{AAE84F20-9ED3-4E29-9FAB-E500E36E0D61}"/>
              </a:ext>
            </a:extLst>
          </p:cNvPr>
          <p:cNvSpPr>
            <a:spLocks xmlns:a="http://schemas.openxmlformats.org/drawingml/2006/main" noGrp="1"/>
          </p:cNvSpPr>
          <p:nvPr/>
        </p:nvSpPr>
        <p:spPr>
          <a:xfrm xmlns:a="http://schemas.openxmlformats.org/drawingml/2006/main">
            <a:off x="9810750" y="6000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local</a:t>
            </a:r>
          </a:p>
        </p:txBody>
      </p:sp>
      <p:sp>
        <p:nvSpPr>
          <p:cNvPr id="47" name="">
            <a:extLst xmlns:a="http://schemas.openxmlformats.org/drawingml/2006/main">
              <a:ext uri="{FF2B5EF4-FFF2-40B4-BE49-F238E27FC236}">
                <a16:creationId xmlns:a16="http://schemas.microsoft.com/office/drawing/2014/main" id="{05D23E41-3DE3-42C6-8440-248A94434788}"/>
              </a:ext>
            </a:extLst>
          </p:cNvPr>
          <p:cNvSpPr>
            <a:spLocks xmlns:a="http://schemas.openxmlformats.org/drawingml/2006/main" noGrp="1"/>
          </p:cNvSpPr>
          <p:nvPr/>
        </p:nvSpPr>
        <p:spPr>
          <a:xfrm xmlns:a="http://schemas.openxmlformats.org/drawingml/2006/main">
            <a:off x="10572750" y="6038850"/>
            <a:ext cx="114300" cy="11430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sp>
      <p:sp>
        <p:nvSpPr>
          <p:cNvPr id="48" name="">
            <a:extLst xmlns:a="http://schemas.openxmlformats.org/drawingml/2006/main">
              <a:ext uri="{FF2B5EF4-FFF2-40B4-BE49-F238E27FC236}">
                <a16:creationId xmlns:a16="http://schemas.microsoft.com/office/drawing/2014/main" id="{43B304ED-937A-468A-AC69-63FA2A50BA40}"/>
              </a:ext>
            </a:extLst>
          </p:cNvPr>
          <p:cNvSpPr>
            <a:spLocks xmlns:a="http://schemas.openxmlformats.org/drawingml/2006/main" noGrp="1"/>
          </p:cNvSpPr>
          <p:nvPr/>
        </p:nvSpPr>
        <p:spPr>
          <a:xfrm xmlns:a="http://schemas.openxmlformats.org/drawingml/2006/main">
            <a:off x="10763250" y="60007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context</a:t>
            </a:r>
          </a:p>
        </p:txBody>
      </p:sp>
    </p:spTree>
    <p:extLst>
      <p:ext uri="{BB962C8B-B14F-4D97-AF65-F5344CB8AC3E}">
        <p14:creationId xmlns:p14="http://schemas.microsoft.com/office/powerpoint/2010/main" val="18058289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3-title">
            <a:extLst xmlns:a="http://schemas.openxmlformats.org/drawingml/2006/main">
              <a:ext uri="{FF2B5EF4-FFF2-40B4-BE49-F238E27FC236}">
                <a16:creationId xmlns:a16="http://schemas.microsoft.com/office/drawing/2014/main" id="{05C68772-937D-4EFA-87FA-B0FAD98CA9E8}"/>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618"/>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Sampling dates can translate genetic change into calendar time</a:t>
            </a:r>
          </a:p>
        </p:txBody>
      </p:sp>
      <p:cxnSp>
        <p:nvCxnSpPr>
          <p:cNvPr id="22"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2F4B18A6-53B7-4C00-AE6C-1B75C53C8BA6}"/>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3D1FE08A-1585-4E9F-8195-70ED9FD7E234}"/>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D79BF8D0-4A11-4AA6-A4F3-F0EE28B556A9}"/>
              </a:ext>
            </a:extLst>
          </p:cNvPr>
          <p:cNvSpPr>
            <a:spLocks xmlns:a="http://schemas.openxmlformats.org/drawingml/2006/main" noGrp="1"/>
          </p:cNvSpPr>
          <p:nvPr/>
        </p:nvSpPr>
        <p:spPr>
          <a:xfrm xmlns:a="http://schemas.openxmlformats.org/drawingml/2006/main">
            <a:off x="571500" y="1952625"/>
            <a:ext cx="4191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genetic distance</a:t>
            </a:r>
          </a:p>
        </p:txBody>
      </p:sp>
      <p:sp>
        <p:nvSpPr>
          <p:cNvPr id="6" name="">
            <a:extLst xmlns:a="http://schemas.openxmlformats.org/drawingml/2006/main">
              <a:ext uri="{FF2B5EF4-FFF2-40B4-BE49-F238E27FC236}">
                <a16:creationId xmlns:a16="http://schemas.microsoft.com/office/drawing/2014/main" id="{0BF1E352-CDE7-4315-8865-C7C1C123A89A}"/>
              </a:ext>
            </a:extLst>
          </p:cNvPr>
          <p:cNvSpPr>
            <a:spLocks xmlns:a="http://schemas.openxmlformats.org/drawingml/2006/main" noGrp="1"/>
          </p:cNvSpPr>
          <p:nvPr/>
        </p:nvSpPr>
        <p:spPr>
          <a:xfrm xmlns:a="http://schemas.openxmlformats.org/drawingml/2006/main">
            <a:off x="571500" y="2705100"/>
            <a:ext cx="4191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 sampling dates</a:t>
            </a:r>
          </a:p>
        </p:txBody>
      </p:sp>
      <p:cxnSp>
        <p:nvCxnSpPr>
          <p:cNvPr id="27" name=""/>
          <p:cNvCxnSpPr/>
          <p:nvPr/>
        </p:nvCxnSpPr>
        <p:spPr>
          <a:xfrm xmlns:a="http://schemas.openxmlformats.org/drawingml/2006/main">
            <a:off x="571500" y="3486150"/>
            <a:ext cx="3905250" cy="0"/>
          </a:xfrm>
          <a:prstGeom xmlns:a="http://schemas.openxmlformats.org/drawingml/2006/main" prst="straightConnector1">
            <a:avLst/>
          </a:prstGeom>
          <a:ln xmlns:a="http://schemas.openxmlformats.org/drawingml/2006/main" w="19050">
            <a:solidFill>
              <a:srgbClr val="000000"/>
            </a:solidFill>
            <a:prstDash val="solid"/>
          </a:ln>
        </p:spPr>
      </p:cxnSp>
      <p:sp>
        <p:nvSpPr>
          <p:cNvPr id="8" name="">
            <a:extLst xmlns:a="http://schemas.openxmlformats.org/drawingml/2006/main">
              <a:ext uri="{FF2B5EF4-FFF2-40B4-BE49-F238E27FC236}">
                <a16:creationId xmlns:a16="http://schemas.microsoft.com/office/drawing/2014/main" id="{E151BF53-BCD9-43D6-A161-FC0BC4350DD2}"/>
              </a:ext>
            </a:extLst>
          </p:cNvPr>
          <p:cNvSpPr>
            <a:spLocks xmlns:a="http://schemas.openxmlformats.org/drawingml/2006/main" noGrp="1"/>
          </p:cNvSpPr>
          <p:nvPr/>
        </p:nvSpPr>
        <p:spPr>
          <a:xfrm xmlns:a="http://schemas.openxmlformats.org/drawingml/2006/main">
            <a:off x="571500" y="37147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calendar time</a:t>
            </a:r>
          </a:p>
        </p:txBody>
      </p:sp>
      <p:sp>
        <p:nvSpPr>
          <p:cNvPr id="9" name="">
            <a:extLst xmlns:a="http://schemas.openxmlformats.org/drawingml/2006/main">
              <a:ext uri="{FF2B5EF4-FFF2-40B4-BE49-F238E27FC236}">
                <a16:creationId xmlns:a16="http://schemas.microsoft.com/office/drawing/2014/main" id="{F14ABC4F-5ED5-4915-A48F-9D59A301EA71}"/>
              </a:ext>
            </a:extLst>
          </p:cNvPr>
          <p:cNvSpPr>
            <a:spLocks xmlns:a="http://schemas.openxmlformats.org/drawingml/2006/main" noGrp="1"/>
          </p:cNvSpPr>
          <p:nvPr/>
        </p:nvSpPr>
        <p:spPr>
          <a:xfrm xmlns:a="http://schemas.openxmlformats.org/drawingml/2006/main">
            <a:off x="571500" y="4714875"/>
            <a:ext cx="4572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C6470"/>
                </a:solidFill>
                <a:latin typeface="Helvetica Neue"/>
                <a:ea typeface="Helvetica Neue"/>
                <a:cs typeface="Helvetica Neue"/>
              </a:defRPr>
            </a:pPr>
            <a:r>
              <a:rPr sz="1650" b="0">
                <a:solidFill>
                  <a:srgbClr val="5C6470"/>
                </a:solidFill>
                <a:latin typeface="Helvetica Neue"/>
                <a:ea typeface="Helvetica Neue"/>
                <a:cs typeface="Helvetica Neue"/>
              </a:rPr>
              <a:t>A dated tree estimates rates and the timing of ancestral nodes.</a:t>
            </a:r>
          </a:p>
        </p:txBody>
      </p:sp>
      <p:sp>
        <p:nvSpPr>
          <p:cNvPr id="10" name="">
            <a:extLst xmlns:a="http://schemas.openxmlformats.org/drawingml/2006/main">
              <a:ext uri="{FF2B5EF4-FFF2-40B4-BE49-F238E27FC236}">
                <a16:creationId xmlns:a16="http://schemas.microsoft.com/office/drawing/2014/main" id="{A8613028-D083-43BA-8226-223BE5805A21}"/>
              </a:ext>
            </a:extLst>
          </p:cNvPr>
          <p:cNvSpPr>
            <a:spLocks xmlns:a="http://schemas.openxmlformats.org/drawingml/2006/main" noGrp="1"/>
          </p:cNvSpPr>
          <p:nvPr/>
        </p:nvSpPr>
        <p:spPr>
          <a:xfrm xmlns:a="http://schemas.openxmlformats.org/drawingml/2006/main">
            <a:off x="6191250" y="19050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The molecular-clock idea</a:t>
            </a:r>
          </a:p>
        </p:txBody>
      </p:sp>
      <p:sp>
        <p:nvSpPr>
          <p:cNvPr id="11" name="">
            <a:extLst xmlns:a="http://schemas.openxmlformats.org/drawingml/2006/main">
              <a:ext uri="{FF2B5EF4-FFF2-40B4-BE49-F238E27FC236}">
                <a16:creationId xmlns:a16="http://schemas.microsoft.com/office/drawing/2014/main" id="{FD26DAB3-BBE9-4A84-90CB-184BDA2799E7}"/>
              </a:ext>
            </a:extLst>
          </p:cNvPr>
          <p:cNvSpPr>
            <a:spLocks xmlns:a="http://schemas.openxmlformats.org/drawingml/2006/main" noGrp="1"/>
          </p:cNvSpPr>
          <p:nvPr/>
        </p:nvSpPr>
        <p:spPr>
          <a:xfrm xmlns:a="http://schemas.openxmlformats.org/drawingml/2006/main">
            <a:off x="6191250" y="2476500"/>
            <a:ext cx="4953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Mutations accumulate along branches.</a:t>
            </a:r>
          </a:p>
          <a:p xmlns:a="http://schemas.openxmlformats.org/drawingml/2006/main">
            <a:pPr algn="l">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Tips sampled at different times provide calibration points.</a:t>
            </a:r>
          </a:p>
          <a:p xmlns:a="http://schemas.openxmlformats.org/drawingml/2006/main">
            <a:pPr algn="l">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A clock model estimates substitutions per site per year.</a:t>
            </a:r>
          </a:p>
          <a:p xmlns:a="http://schemas.openxmlformats.org/drawingml/2006/main">
            <a:pPr algn="l">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The branch lengths can then be expressed in dates.</a:t>
            </a:r>
          </a:p>
        </p:txBody>
      </p:sp>
      <p:sp>
        <p:nvSpPr>
          <p:cNvPr id="12" name="">
            <a:extLst xmlns:a="http://schemas.openxmlformats.org/drawingml/2006/main">
              <a:ext uri="{FF2B5EF4-FFF2-40B4-BE49-F238E27FC236}">
                <a16:creationId xmlns:a16="http://schemas.microsoft.com/office/drawing/2014/main" id="{DFA66F36-26D9-4B1B-B0B0-6682E5148379}"/>
              </a:ext>
            </a:extLst>
          </p:cNvPr>
          <p:cNvSpPr>
            <a:spLocks xmlns:a="http://schemas.openxmlformats.org/drawingml/2006/main" noGrp="1"/>
          </p:cNvSpPr>
          <p:nvPr/>
        </p:nvSpPr>
        <p:spPr>
          <a:xfrm xmlns:a="http://schemas.openxmlformats.org/drawingml/2006/main">
            <a:off x="6191250" y="4953000"/>
            <a:ext cx="4953000" cy="7810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112D003-E814-46D4-A209-2A8E9D825832}"/>
              </a:ext>
            </a:extLst>
          </p:cNvPr>
          <p:cNvSpPr>
            <a:spLocks xmlns:a="http://schemas.openxmlformats.org/drawingml/2006/main" noGrp="1"/>
          </p:cNvSpPr>
          <p:nvPr/>
        </p:nvSpPr>
        <p:spPr>
          <a:xfrm xmlns:a="http://schemas.openxmlformats.org/drawingml/2006/main">
            <a:off x="6419850" y="5153025"/>
            <a:ext cx="449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09"/>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Only if the lineage evolved measurably over the sampling window.</a:t>
            </a:r>
          </a:p>
        </p:txBody>
      </p:sp>
    </p:spTree>
    <p:extLst>
      <p:ext uri="{BB962C8B-B14F-4D97-AF65-F5344CB8AC3E}">
        <p14:creationId xmlns:p14="http://schemas.microsoft.com/office/powerpoint/2010/main" val="742444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4-title">
            <a:extLst xmlns:a="http://schemas.openxmlformats.org/drawingml/2006/main">
              <a:ext uri="{FF2B5EF4-FFF2-40B4-BE49-F238E27FC236}">
                <a16:creationId xmlns:a16="http://schemas.microsoft.com/office/drawing/2014/main" id="{93961103-A1BA-47B3-8BCA-D4C8EF5126B2}"/>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The minimum input is small—but its quality matters</a:t>
            </a:r>
          </a:p>
        </p:txBody>
      </p:sp>
      <p:cxnSp>
        <p:nvCxnSpPr>
          <p:cNvPr id="42"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455F8E21-47BF-41BD-B8C9-807DC8B91034}"/>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F3B1EEEF-4DC4-4AED-976D-7BA98EA22DBC}"/>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40F0C098-2460-466B-A061-E0E2F28F4C93}"/>
              </a:ext>
            </a:extLst>
          </p:cNvPr>
          <p:cNvSpPr>
            <a:spLocks xmlns:a="http://schemas.openxmlformats.org/drawingml/2006/main" noGrp="1"/>
          </p:cNvSpPr>
          <p:nvPr/>
        </p:nvSpPr>
        <p:spPr>
          <a:xfrm xmlns:a="http://schemas.openxmlformats.org/drawingml/2006/main">
            <a:off x="571500" y="18097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8AD9DE62-D154-4775-B1F8-DD1653E5E206}"/>
              </a:ext>
            </a:extLst>
          </p:cNvPr>
          <p:cNvSpPr>
            <a:spLocks xmlns:a="http://schemas.openxmlformats.org/drawingml/2006/main" noGrp="1"/>
          </p:cNvSpPr>
          <p:nvPr/>
        </p:nvSpPr>
        <p:spPr>
          <a:xfrm xmlns:a="http://schemas.openxmlformats.org/drawingml/2006/main">
            <a:off x="1314450" y="17907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Whole genomes</a:t>
            </a:r>
          </a:p>
        </p:txBody>
      </p:sp>
      <p:sp>
        <p:nvSpPr>
          <p:cNvPr id="7" name="">
            <a:extLst xmlns:a="http://schemas.openxmlformats.org/drawingml/2006/main">
              <a:ext uri="{FF2B5EF4-FFF2-40B4-BE49-F238E27FC236}">
                <a16:creationId xmlns:a16="http://schemas.microsoft.com/office/drawing/2014/main" id="{7AFAD3C0-E96D-4B62-A302-CE0DEDDF3F7B}"/>
              </a:ext>
            </a:extLst>
          </p:cNvPr>
          <p:cNvSpPr>
            <a:spLocks xmlns:a="http://schemas.openxmlformats.org/drawingml/2006/main" noGrp="1"/>
          </p:cNvSpPr>
          <p:nvPr/>
        </p:nvSpPr>
        <p:spPr>
          <a:xfrm xmlns:a="http://schemas.openxmlformats.org/drawingml/2006/main">
            <a:off x="1314450" y="2333625"/>
            <a:ext cx="428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Assemblies or a core-genome alignment from sufficiently close isolates.</a:t>
            </a:r>
          </a:p>
        </p:txBody>
      </p:sp>
      <p:cxnSp>
        <p:nvCxnSpPr>
          <p:cNvPr id="48" name=""/>
          <p:cNvCxnSpPr/>
          <p:nvPr/>
        </p:nvCxnSpPr>
        <p:spPr>
          <a:xfrm xmlns:a="http://schemas.openxmlformats.org/drawingml/2006/main">
            <a:off x="1314450" y="2209800"/>
            <a:ext cx="42862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372C4275-677E-4765-9EB4-2624CB95E9AF}"/>
              </a:ext>
            </a:extLst>
          </p:cNvPr>
          <p:cNvSpPr>
            <a:spLocks xmlns:a="http://schemas.openxmlformats.org/drawingml/2006/main" noGrp="1"/>
          </p:cNvSpPr>
          <p:nvPr/>
        </p:nvSpPr>
        <p:spPr>
          <a:xfrm xmlns:a="http://schemas.openxmlformats.org/drawingml/2006/main">
            <a:off x="6191250" y="18097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24DABEB-7DEE-47B4-AC7A-561B0EB2AF9A}"/>
              </a:ext>
            </a:extLst>
          </p:cNvPr>
          <p:cNvSpPr>
            <a:spLocks xmlns:a="http://schemas.openxmlformats.org/drawingml/2006/main" noGrp="1"/>
          </p:cNvSpPr>
          <p:nvPr/>
        </p:nvSpPr>
        <p:spPr>
          <a:xfrm xmlns:a="http://schemas.openxmlformats.org/drawingml/2006/main">
            <a:off x="6934200" y="17907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Collection dates</a:t>
            </a:r>
          </a:p>
        </p:txBody>
      </p:sp>
      <p:sp>
        <p:nvSpPr>
          <p:cNvPr id="11" name="">
            <a:extLst xmlns:a="http://schemas.openxmlformats.org/drawingml/2006/main">
              <a:ext uri="{FF2B5EF4-FFF2-40B4-BE49-F238E27FC236}">
                <a16:creationId xmlns:a16="http://schemas.microsoft.com/office/drawing/2014/main" id="{179F5BAC-01F6-4D73-8EC7-7434CF8ABBBF}"/>
              </a:ext>
            </a:extLst>
          </p:cNvPr>
          <p:cNvSpPr>
            <a:spLocks xmlns:a="http://schemas.openxmlformats.org/drawingml/2006/main" noGrp="1"/>
          </p:cNvSpPr>
          <p:nvPr/>
        </p:nvSpPr>
        <p:spPr>
          <a:xfrm xmlns:a="http://schemas.openxmlformats.org/drawingml/2006/main">
            <a:off x="6934200" y="2333625"/>
            <a:ext cx="428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At least year and month where possible; uncertainty must be retained.</a:t>
            </a:r>
          </a:p>
        </p:txBody>
      </p:sp>
      <p:cxnSp>
        <p:nvCxnSpPr>
          <p:cNvPr id="52" name=""/>
          <p:cNvCxnSpPr/>
          <p:nvPr/>
        </p:nvCxnSpPr>
        <p:spPr>
          <a:xfrm xmlns:a="http://schemas.openxmlformats.org/drawingml/2006/main">
            <a:off x="6934200" y="2209800"/>
            <a:ext cx="4286250" cy="0"/>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7298753-FCDC-4A92-B5C8-9A90A4396E61}"/>
              </a:ext>
            </a:extLst>
          </p:cNvPr>
          <p:cNvSpPr>
            <a:spLocks xmlns:a="http://schemas.openxmlformats.org/drawingml/2006/main" noGrp="1"/>
          </p:cNvSpPr>
          <p:nvPr/>
        </p:nvSpPr>
        <p:spPr>
          <a:xfrm xmlns:a="http://schemas.openxmlformats.org/drawingml/2006/main">
            <a:off x="571500" y="40005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FBBC10C7-23B8-456A-A250-556B9429F960}"/>
              </a:ext>
            </a:extLst>
          </p:cNvPr>
          <p:cNvSpPr>
            <a:spLocks xmlns:a="http://schemas.openxmlformats.org/drawingml/2006/main" noGrp="1"/>
          </p:cNvSpPr>
          <p:nvPr/>
        </p:nvSpPr>
        <p:spPr>
          <a:xfrm xmlns:a="http://schemas.openxmlformats.org/drawingml/2006/main">
            <a:off x="1314450" y="39814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A coherent lineage</a:t>
            </a:r>
          </a:p>
        </p:txBody>
      </p:sp>
      <p:sp>
        <p:nvSpPr>
          <p:cNvPr id="15" name="">
            <a:extLst xmlns:a="http://schemas.openxmlformats.org/drawingml/2006/main">
              <a:ext uri="{FF2B5EF4-FFF2-40B4-BE49-F238E27FC236}">
                <a16:creationId xmlns:a16="http://schemas.microsoft.com/office/drawing/2014/main" id="{49110F69-D410-4AB1-9843-D7A58B88896D}"/>
              </a:ext>
            </a:extLst>
          </p:cNvPr>
          <p:cNvSpPr>
            <a:spLocks xmlns:a="http://schemas.openxmlformats.org/drawingml/2006/main" noGrp="1"/>
          </p:cNvSpPr>
          <p:nvPr/>
        </p:nvSpPr>
        <p:spPr>
          <a:xfrm xmlns:a="http://schemas.openxmlformats.org/drawingml/2006/main">
            <a:off x="1314450" y="4524375"/>
            <a:ext cx="428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Analyse species separately and normally work within an ST or narrower clonal group.</a:t>
            </a:r>
          </a:p>
        </p:txBody>
      </p:sp>
      <p:cxnSp>
        <p:nvCxnSpPr>
          <p:cNvPr id="56" name=""/>
          <p:cNvCxnSpPr/>
          <p:nvPr/>
        </p:nvCxnSpPr>
        <p:spPr>
          <a:xfrm xmlns:a="http://schemas.openxmlformats.org/drawingml/2006/main">
            <a:off x="1314450" y="4400550"/>
            <a:ext cx="428625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DEA26C9D-FA0C-4727-9047-3716153DC885}"/>
              </a:ext>
            </a:extLst>
          </p:cNvPr>
          <p:cNvSpPr>
            <a:spLocks xmlns:a="http://schemas.openxmlformats.org/drawingml/2006/main" noGrp="1"/>
          </p:cNvSpPr>
          <p:nvPr/>
        </p:nvSpPr>
        <p:spPr>
          <a:xfrm xmlns:a="http://schemas.openxmlformats.org/drawingml/2006/main">
            <a:off x="6191250" y="40005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FF1CA67A-D5D3-47A0-A14C-B2659C568572}"/>
              </a:ext>
            </a:extLst>
          </p:cNvPr>
          <p:cNvSpPr>
            <a:spLocks xmlns:a="http://schemas.openxmlformats.org/drawingml/2006/main" noGrp="1"/>
          </p:cNvSpPr>
          <p:nvPr/>
        </p:nvSpPr>
        <p:spPr>
          <a:xfrm xmlns:a="http://schemas.openxmlformats.org/drawingml/2006/main">
            <a:off x="6934200" y="39814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Public-health context</a:t>
            </a:r>
          </a:p>
        </p:txBody>
      </p:sp>
      <p:sp>
        <p:nvSpPr>
          <p:cNvPr id="19" name="">
            <a:extLst xmlns:a="http://schemas.openxmlformats.org/drawingml/2006/main">
              <a:ext uri="{FF2B5EF4-FFF2-40B4-BE49-F238E27FC236}">
                <a16:creationId xmlns:a16="http://schemas.microsoft.com/office/drawing/2014/main" id="{11A410E4-7DF2-4C71-99F7-F3DD770DBDF0}"/>
              </a:ext>
            </a:extLst>
          </p:cNvPr>
          <p:cNvSpPr>
            <a:spLocks xmlns:a="http://schemas.openxmlformats.org/drawingml/2006/main" noGrp="1"/>
          </p:cNvSpPr>
          <p:nvPr/>
        </p:nvSpPr>
        <p:spPr>
          <a:xfrm xmlns:a="http://schemas.openxmlformats.org/drawingml/2006/main">
            <a:off x="6934200" y="4524375"/>
            <a:ext cx="428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Focal versus contextual origin, location and coded patient or facility fields where available.</a:t>
            </a:r>
          </a:p>
        </p:txBody>
      </p:sp>
      <p:cxnSp>
        <p:nvCxnSpPr>
          <p:cNvPr id="60" name=""/>
          <p:cNvCxnSpPr/>
          <p:nvPr/>
        </p:nvCxnSpPr>
        <p:spPr>
          <a:xfrm xmlns:a="http://schemas.openxmlformats.org/drawingml/2006/main">
            <a:off x="6934200" y="4400550"/>
            <a:ext cx="4286250" cy="0"/>
          </a:xfrm>
          <a:prstGeom xmlns:a="http://schemas.openxmlformats.org/drawingml/2006/main" prst="straightConnector1">
            <a:avLst/>
          </a:prstGeom>
          <a:ln xmlns:a="http://schemas.openxmlformats.org/drawingml/2006/main" w="9525">
            <a:solidFill>
              <a:srgbClr val="B8BCC4"/>
            </a:solidFill>
            <a:prstDash val="solid"/>
          </a:ln>
        </p:spPr>
      </p:cxnSp>
    </p:spTree>
    <p:extLst>
      <p:ext uri="{BB962C8B-B14F-4D97-AF65-F5344CB8AC3E}">
        <p14:creationId xmlns:p14="http://schemas.microsoft.com/office/powerpoint/2010/main" val="4386469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5-title">
            <a:extLst xmlns:a="http://schemas.openxmlformats.org/drawingml/2006/main">
              <a:ext uri="{FF2B5EF4-FFF2-40B4-BE49-F238E27FC236}">
                <a16:creationId xmlns:a16="http://schemas.microsoft.com/office/drawing/2014/main" id="{71FA298F-CACF-40E7-A247-479819340CF7}"/>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Bacterial genomes make the clock harder to read</a:t>
            </a:r>
          </a:p>
        </p:txBody>
      </p:sp>
      <p:cxnSp>
        <p:nvCxnSpPr>
          <p:cNvPr id="19"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CD6182D8-81EA-4336-9B40-E587E585CBAA}"/>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58E328E5-5CB5-4386-8EBB-1EB3B6C80230}"/>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AE2CBB51-CEFA-4FC1-BB00-244FF18B65A7}"/>
              </a:ext>
            </a:extLst>
          </p:cNvPr>
          <p:cNvSpPr>
            <a:spLocks xmlns:a="http://schemas.openxmlformats.org/drawingml/2006/main" noGrp="1"/>
          </p:cNvSpPr>
          <p:nvPr/>
        </p:nvSpPr>
        <p:spPr>
          <a:xfrm xmlns:a="http://schemas.openxmlformats.org/drawingml/2006/main">
            <a:off x="571500" y="1809750"/>
            <a:ext cx="3143250" cy="114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25AF7F-F949-4E9A-9C88-E4B854029BE5}"/>
              </a:ext>
            </a:extLst>
          </p:cNvPr>
          <p:cNvSpPr>
            <a:spLocks xmlns:a="http://schemas.openxmlformats.org/drawingml/2006/main" noGrp="1"/>
          </p:cNvSpPr>
          <p:nvPr/>
        </p:nvSpPr>
        <p:spPr>
          <a:xfrm xmlns:a="http://schemas.openxmlformats.org/drawingml/2006/main">
            <a:off x="571500" y="21907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Recombination</a:t>
            </a:r>
          </a:p>
        </p:txBody>
      </p:sp>
      <p:sp>
        <p:nvSpPr>
          <p:cNvPr id="7" name="">
            <a:extLst xmlns:a="http://schemas.openxmlformats.org/drawingml/2006/main">
              <a:ext uri="{FF2B5EF4-FFF2-40B4-BE49-F238E27FC236}">
                <a16:creationId xmlns:a16="http://schemas.microsoft.com/office/drawing/2014/main" id="{B155078B-5E2C-4213-A5BC-B7976F0224BC}"/>
              </a:ext>
            </a:extLst>
          </p:cNvPr>
          <p:cNvSpPr>
            <a:spLocks xmlns:a="http://schemas.openxmlformats.org/drawingml/2006/main" noGrp="1"/>
          </p:cNvSpPr>
          <p:nvPr/>
        </p:nvSpPr>
        <p:spPr>
          <a:xfrm xmlns:a="http://schemas.openxmlformats.org/drawingml/2006/main">
            <a:off x="571500" y="285750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C6470"/>
                </a:solidFill>
                <a:latin typeface="Helvetica Neue"/>
                <a:ea typeface="Helvetica Neue"/>
                <a:cs typeface="Helvetica Neue"/>
              </a:defRPr>
            </a:pPr>
            <a:r>
              <a:rPr sz="1575" b="0">
                <a:solidFill>
                  <a:srgbClr val="5C6470"/>
                </a:solidFill>
                <a:latin typeface="Helvetica Neue"/>
                <a:ea typeface="Helvetica Neue"/>
                <a:cs typeface="Helvetica Neue"/>
              </a:rPr>
              <a:t>Imported DNA can add many changes at once and distort both distances and branch lengths.</a:t>
            </a:r>
          </a:p>
        </p:txBody>
      </p:sp>
      <p:sp>
        <p:nvSpPr>
          <p:cNvPr id="8" name="">
            <a:extLst xmlns:a="http://schemas.openxmlformats.org/drawingml/2006/main">
              <a:ext uri="{FF2B5EF4-FFF2-40B4-BE49-F238E27FC236}">
                <a16:creationId xmlns:a16="http://schemas.microsoft.com/office/drawing/2014/main" id="{483AD8B9-B6BD-47D7-B109-56ADAFA48E74}"/>
              </a:ext>
            </a:extLst>
          </p:cNvPr>
          <p:cNvSpPr>
            <a:spLocks xmlns:a="http://schemas.openxmlformats.org/drawingml/2006/main" noGrp="1"/>
          </p:cNvSpPr>
          <p:nvPr/>
        </p:nvSpPr>
        <p:spPr>
          <a:xfrm xmlns:a="http://schemas.openxmlformats.org/drawingml/2006/main">
            <a:off x="4238625" y="1809750"/>
            <a:ext cx="3143250" cy="1143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881CE5-D4CC-4DE8-9FF7-A002FF21B72F}"/>
              </a:ext>
            </a:extLst>
          </p:cNvPr>
          <p:cNvSpPr>
            <a:spLocks xmlns:a="http://schemas.openxmlformats.org/drawingml/2006/main" noGrp="1"/>
          </p:cNvSpPr>
          <p:nvPr/>
        </p:nvSpPr>
        <p:spPr>
          <a:xfrm xmlns:a="http://schemas.openxmlformats.org/drawingml/2006/main">
            <a:off x="4238625" y="21907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Weak temporal signal</a:t>
            </a:r>
          </a:p>
        </p:txBody>
      </p:sp>
      <p:sp>
        <p:nvSpPr>
          <p:cNvPr id="10" name="">
            <a:extLst xmlns:a="http://schemas.openxmlformats.org/drawingml/2006/main">
              <a:ext uri="{FF2B5EF4-FFF2-40B4-BE49-F238E27FC236}">
                <a16:creationId xmlns:a16="http://schemas.microsoft.com/office/drawing/2014/main" id="{88C4E5F8-E0F4-4AA3-877A-B4E7E8073ACF}"/>
              </a:ext>
            </a:extLst>
          </p:cNvPr>
          <p:cNvSpPr>
            <a:spLocks xmlns:a="http://schemas.openxmlformats.org/drawingml/2006/main" noGrp="1"/>
          </p:cNvSpPr>
          <p:nvPr/>
        </p:nvSpPr>
        <p:spPr>
          <a:xfrm xmlns:a="http://schemas.openxmlformats.org/drawingml/2006/main">
            <a:off x="4238625" y="285750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C6470"/>
                </a:solidFill>
                <a:latin typeface="Helvetica Neue"/>
                <a:ea typeface="Helvetica Neue"/>
                <a:cs typeface="Helvetica Neue"/>
              </a:defRPr>
            </a:pPr>
            <a:r>
              <a:rPr sz="1575" b="0">
                <a:solidFill>
                  <a:srgbClr val="5C6470"/>
                </a:solidFill>
                <a:latin typeface="Helvetica Neue"/>
                <a:ea typeface="Helvetica Neue"/>
                <a:cs typeface="Helvetica Neue"/>
              </a:rPr>
              <a:t>Slow evolution, narrow sampling windows or clustered dates may leave too few substitutions to calibrate time.</a:t>
            </a:r>
          </a:p>
        </p:txBody>
      </p:sp>
      <p:sp>
        <p:nvSpPr>
          <p:cNvPr id="11" name="">
            <a:extLst xmlns:a="http://schemas.openxmlformats.org/drawingml/2006/main">
              <a:ext uri="{FF2B5EF4-FFF2-40B4-BE49-F238E27FC236}">
                <a16:creationId xmlns:a16="http://schemas.microsoft.com/office/drawing/2014/main" id="{628F5AA9-E5B7-4D71-B4AE-6E817B38D18E}"/>
              </a:ext>
            </a:extLst>
          </p:cNvPr>
          <p:cNvSpPr>
            <a:spLocks xmlns:a="http://schemas.openxmlformats.org/drawingml/2006/main" noGrp="1"/>
          </p:cNvSpPr>
          <p:nvPr/>
        </p:nvSpPr>
        <p:spPr>
          <a:xfrm xmlns:a="http://schemas.openxmlformats.org/drawingml/2006/main">
            <a:off x="7905750" y="1809750"/>
            <a:ext cx="3143250" cy="1143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289125-363B-431C-B170-B69D6C6EB7D7}"/>
              </a:ext>
            </a:extLst>
          </p:cNvPr>
          <p:cNvSpPr>
            <a:spLocks xmlns:a="http://schemas.openxmlformats.org/drawingml/2006/main" noGrp="1"/>
          </p:cNvSpPr>
          <p:nvPr/>
        </p:nvSpPr>
        <p:spPr>
          <a:xfrm xmlns:a="http://schemas.openxmlformats.org/drawingml/2006/main">
            <a:off x="7905750" y="21907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Biased context</a:t>
            </a:r>
          </a:p>
        </p:txBody>
      </p:sp>
      <p:sp>
        <p:nvSpPr>
          <p:cNvPr id="13" name="">
            <a:extLst xmlns:a="http://schemas.openxmlformats.org/drawingml/2006/main">
              <a:ext uri="{FF2B5EF4-FFF2-40B4-BE49-F238E27FC236}">
                <a16:creationId xmlns:a16="http://schemas.microsoft.com/office/drawing/2014/main" id="{C86BDEEC-BBDF-4FF5-90ED-F0F00EC9D875}"/>
              </a:ext>
            </a:extLst>
          </p:cNvPr>
          <p:cNvSpPr>
            <a:spLocks xmlns:a="http://schemas.openxmlformats.org/drawingml/2006/main" noGrp="1"/>
          </p:cNvSpPr>
          <p:nvPr/>
        </p:nvSpPr>
        <p:spPr>
          <a:xfrm xmlns:a="http://schemas.openxmlformats.org/drawingml/2006/main">
            <a:off x="7905750" y="285750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C6470"/>
                </a:solidFill>
                <a:latin typeface="Helvetica Neue"/>
                <a:ea typeface="Helvetica Neue"/>
                <a:cs typeface="Helvetica Neue"/>
              </a:defRPr>
            </a:pPr>
            <a:r>
              <a:rPr sz="1575" b="0">
                <a:solidFill>
                  <a:srgbClr val="5C6470"/>
                </a:solidFill>
                <a:latin typeface="Helvetica Neue"/>
                <a:ea typeface="Helvetica Neue"/>
                <a:cs typeface="Helvetica Neue"/>
              </a:rPr>
              <a:t>Sparse or geographically uneven public sampling can make an introduction look like local persistence—or vice versa.</a:t>
            </a:r>
          </a:p>
        </p:txBody>
      </p:sp>
      <p:sp>
        <p:nvSpPr>
          <p:cNvPr id="14" name="">
            <a:extLst xmlns:a="http://schemas.openxmlformats.org/drawingml/2006/main">
              <a:ext uri="{FF2B5EF4-FFF2-40B4-BE49-F238E27FC236}">
                <a16:creationId xmlns:a16="http://schemas.microsoft.com/office/drawing/2014/main" id="{34358EF5-731A-4DBE-B5D0-885DB55B2FC9}"/>
              </a:ext>
            </a:extLst>
          </p:cNvPr>
          <p:cNvSpPr>
            <a:spLocks xmlns:a="http://schemas.openxmlformats.org/drawingml/2006/main" noGrp="1"/>
          </p:cNvSpPr>
          <p:nvPr/>
        </p:nvSpPr>
        <p:spPr>
          <a:xfrm xmlns:a="http://schemas.openxmlformats.org/drawingml/2006/main">
            <a:off x="571500" y="5000625"/>
            <a:ext cx="10477500" cy="7810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98696FF-FD2A-47EF-BF4D-EF86C3DEF034}"/>
              </a:ext>
            </a:extLst>
          </p:cNvPr>
          <p:cNvSpPr>
            <a:spLocks xmlns:a="http://schemas.openxmlformats.org/drawingml/2006/main" noGrp="1"/>
          </p:cNvSpPr>
          <p:nvPr/>
        </p:nvSpPr>
        <p:spPr>
          <a:xfrm xmlns:a="http://schemas.openxmlformats.org/drawingml/2006/main">
            <a:off x="838200" y="5200650"/>
            <a:ext cx="995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Correct recombination · test the dates · show the contextual sampling</a:t>
            </a:r>
          </a:p>
        </p:txBody>
      </p:sp>
    </p:spTree>
    <p:extLst>
      <p:ext uri="{BB962C8B-B14F-4D97-AF65-F5344CB8AC3E}">
        <p14:creationId xmlns:p14="http://schemas.microsoft.com/office/powerpoint/2010/main" val="11901375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6-title">
            <a:extLst xmlns:a="http://schemas.openxmlformats.org/drawingml/2006/main">
              <a:ext uri="{FF2B5EF4-FFF2-40B4-BE49-F238E27FC236}">
                <a16:creationId xmlns:a16="http://schemas.microsoft.com/office/drawing/2014/main" id="{01EB03F9-5692-4C4B-86C6-D1A685F835E2}"/>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82"/>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Published datasets show why root-to-tip is only a diagnostic</a:t>
            </a:r>
          </a:p>
        </p:txBody>
      </p:sp>
      <p:cxnSp>
        <p:nvCxnSpPr>
          <p:cNvPr id="38"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E7015530-4045-40FD-B813-A9EBC72D76AD}"/>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050369D0-ACC5-456D-B42F-20C67A8343C4}"/>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D3635924-B0E5-41DF-B7A9-754A914621D5}"/>
              </a:ext>
            </a:extLst>
          </p:cNvPr>
          <p:cNvSpPr>
            <a:spLocks xmlns:a="http://schemas.openxmlformats.org/drawingml/2006/main" noGrp="1"/>
          </p:cNvSpPr>
          <p:nvPr/>
        </p:nvSpPr>
        <p:spPr>
          <a:xfrm xmlns:a="http://schemas.openxmlformats.org/drawingml/2006/main">
            <a:off x="571500" y="1619250"/>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187C79E-044B-44D8-8FC0-78FD882600BC}"/>
              </a:ext>
            </a:extLst>
          </p:cNvPr>
          <p:cNvSpPr>
            <a:spLocks xmlns:a="http://schemas.openxmlformats.org/drawingml/2006/main" noGrp="1"/>
          </p:cNvSpPr>
          <p:nvPr/>
        </p:nvSpPr>
        <p:spPr>
          <a:xfrm xmlns:a="http://schemas.openxmlformats.org/drawingml/2006/main">
            <a:off x="571500" y="1619250"/>
            <a:ext cx="11430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0E7055-38A5-49CA-B690-8BDC1FF4BB43}"/>
              </a:ext>
            </a:extLst>
          </p:cNvPr>
          <p:cNvSpPr>
            <a:spLocks xmlns:a="http://schemas.openxmlformats.org/drawingml/2006/main" noGrp="1"/>
          </p:cNvSpPr>
          <p:nvPr/>
        </p:nvSpPr>
        <p:spPr>
          <a:xfrm xmlns:a="http://schemas.openxmlformats.org/drawingml/2006/main">
            <a:off x="895350" y="17907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Pseudomonas aeruginosa ST17</a:t>
            </a:r>
          </a:p>
        </p:txBody>
      </p:sp>
      <p:sp>
        <p:nvSpPr>
          <p:cNvPr id="8" name="">
            <a:extLst xmlns:a="http://schemas.openxmlformats.org/drawingml/2006/main">
              <a:ext uri="{FF2B5EF4-FFF2-40B4-BE49-F238E27FC236}">
                <a16:creationId xmlns:a16="http://schemas.microsoft.com/office/drawing/2014/main" id="{D077E4F4-1E2B-4BC8-B586-ED02CE24EF4E}"/>
              </a:ext>
            </a:extLst>
          </p:cNvPr>
          <p:cNvSpPr>
            <a:spLocks xmlns:a="http://schemas.openxmlformats.org/drawingml/2006/main" noGrp="1"/>
          </p:cNvSpPr>
          <p:nvPr/>
        </p:nvSpPr>
        <p:spPr>
          <a:xfrm xmlns:a="http://schemas.openxmlformats.org/drawingml/2006/main">
            <a:off x="895350" y="21621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C6470"/>
                </a:solidFill>
                <a:latin typeface="Helvetica Neue"/>
                <a:ea typeface="Helvetica Neue"/>
                <a:cs typeface="Helvetica Neue"/>
              </a:defRPr>
            </a:pPr>
            <a:r>
              <a:rPr sz="1200" b="1">
                <a:solidFill>
                  <a:srgbClr val="5C6470"/>
                </a:solidFill>
                <a:latin typeface="Helvetica Neue"/>
                <a:ea typeface="Helvetica Neue"/>
                <a:cs typeface="Helvetica Neue"/>
              </a:rPr>
              <a:t>Within one ICU patient</a:t>
            </a:r>
          </a:p>
        </p:txBody>
      </p:sp>
      <p:sp>
        <p:nvSpPr>
          <p:cNvPr id="9" name="">
            <a:extLst xmlns:a="http://schemas.openxmlformats.org/drawingml/2006/main">
              <a:ext uri="{FF2B5EF4-FFF2-40B4-BE49-F238E27FC236}">
                <a16:creationId xmlns:a16="http://schemas.microsoft.com/office/drawing/2014/main" id="{90F82130-405C-4765-80BE-D4889B4DBD59}"/>
              </a:ext>
            </a:extLst>
          </p:cNvPr>
          <p:cNvSpPr>
            <a:spLocks xmlns:a="http://schemas.openxmlformats.org/drawingml/2006/main" noGrp="1"/>
          </p:cNvSpPr>
          <p:nvPr/>
        </p:nvSpPr>
        <p:spPr>
          <a:xfrm xmlns:a="http://schemas.openxmlformats.org/drawingml/2006/main">
            <a:off x="895350" y="24574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r² = 0.50 · 0.063 SNP/day · P &lt; 0.0001</a:t>
            </a:r>
          </a:p>
        </p:txBody>
      </p:sp>
      <p:sp>
        <p:nvSpPr>
          <p:cNvPr id="10" name="">
            <a:extLst xmlns:a="http://schemas.openxmlformats.org/drawingml/2006/main">
              <a:ext uri="{FF2B5EF4-FFF2-40B4-BE49-F238E27FC236}">
                <a16:creationId xmlns:a16="http://schemas.microsoft.com/office/drawing/2014/main" id="{F24C2AA4-07F9-42C5-9A60-5BAE44752317}"/>
              </a:ext>
            </a:extLst>
          </p:cNvPr>
          <p:cNvSpPr>
            <a:spLocks xmlns:a="http://schemas.openxmlformats.org/drawingml/2006/main" noGrp="1"/>
          </p:cNvSpPr>
          <p:nvPr/>
        </p:nvSpPr>
        <p:spPr>
          <a:xfrm xmlns:a="http://schemas.openxmlformats.org/drawingml/2006/main">
            <a:off x="895350" y="27813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0">
                <a:solidFill>
                  <a:srgbClr val="000000"/>
                </a:solidFill>
                <a:latin typeface="Helvetica Neue"/>
                <a:ea typeface="Helvetica Neue"/>
                <a:cs typeface="Helvetica Neue"/>
              </a:defRPr>
            </a:pPr>
            <a:r>
              <a:rPr sz="1238" b="0">
                <a:solidFill>
                  <a:srgbClr val="000000"/>
                </a:solidFill>
                <a:latin typeface="Helvetica Neue"/>
                <a:ea typeface="Helvetica Neue"/>
                <a:cs typeface="Helvetica Neue"/>
              </a:rPr>
              <a:t>The regression placed the MRCA near day 0, supporting diversification during the infection.</a:t>
            </a:r>
          </a:p>
        </p:txBody>
      </p:sp>
      <p:sp>
        <p:nvSpPr>
          <p:cNvPr id="11" name="">
            <a:extLst xmlns:a="http://schemas.openxmlformats.org/drawingml/2006/main">
              <a:ext uri="{FF2B5EF4-FFF2-40B4-BE49-F238E27FC236}">
                <a16:creationId xmlns:a16="http://schemas.microsoft.com/office/drawing/2014/main" id="{77AB9CB8-269A-464F-A202-FE6CF3BEC77B}"/>
              </a:ext>
            </a:extLst>
          </p:cNvPr>
          <p:cNvSpPr>
            <a:spLocks xmlns:a="http://schemas.openxmlformats.org/drawingml/2006/main" noGrp="1"/>
          </p:cNvSpPr>
          <p:nvPr/>
        </p:nvSpPr>
        <p:spPr>
          <a:xfrm xmlns:a="http://schemas.openxmlformats.org/drawingml/2006/main">
            <a:off x="895350" y="32004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Wheatley et al. · Nature Communications 2021</a:t>
            </a:r>
          </a:p>
        </p:txBody>
      </p:sp>
      <p:sp>
        <p:nvSpPr>
          <p:cNvPr id="12" name="">
            <a:extLst xmlns:a="http://schemas.openxmlformats.org/drawingml/2006/main">
              <a:ext uri="{FF2B5EF4-FFF2-40B4-BE49-F238E27FC236}">
                <a16:creationId xmlns:a16="http://schemas.microsoft.com/office/drawing/2014/main" id="{765C3962-C756-4C67-AA7E-D9DB207EF559}"/>
              </a:ext>
            </a:extLst>
          </p:cNvPr>
          <p:cNvSpPr>
            <a:spLocks xmlns:a="http://schemas.openxmlformats.org/drawingml/2006/main" noGrp="1"/>
          </p:cNvSpPr>
          <p:nvPr/>
        </p:nvSpPr>
        <p:spPr>
          <a:xfrm xmlns:a="http://schemas.openxmlformats.org/drawingml/2006/main">
            <a:off x="6191250" y="1619250"/>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95350DB6-9923-48B7-8000-BB81BD841294}"/>
              </a:ext>
            </a:extLst>
          </p:cNvPr>
          <p:cNvSpPr>
            <a:spLocks xmlns:a="http://schemas.openxmlformats.org/drawingml/2006/main" noGrp="1"/>
          </p:cNvSpPr>
          <p:nvPr/>
        </p:nvSpPr>
        <p:spPr>
          <a:xfrm xmlns:a="http://schemas.openxmlformats.org/drawingml/2006/main">
            <a:off x="6191250" y="1619250"/>
            <a:ext cx="11430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890C8F-C54C-4699-8407-BABDAE3CBA5D}"/>
              </a:ext>
            </a:extLst>
          </p:cNvPr>
          <p:cNvSpPr>
            <a:spLocks xmlns:a="http://schemas.openxmlformats.org/drawingml/2006/main" noGrp="1"/>
          </p:cNvSpPr>
          <p:nvPr/>
        </p:nvSpPr>
        <p:spPr>
          <a:xfrm xmlns:a="http://schemas.openxmlformats.org/drawingml/2006/main">
            <a:off x="6515100" y="17907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Salmonella Typhi 3.1.1</a:t>
            </a:r>
          </a:p>
        </p:txBody>
      </p:sp>
      <p:sp>
        <p:nvSpPr>
          <p:cNvPr id="15" name="">
            <a:extLst xmlns:a="http://schemas.openxmlformats.org/drawingml/2006/main">
              <a:ext uri="{FF2B5EF4-FFF2-40B4-BE49-F238E27FC236}">
                <a16:creationId xmlns:a16="http://schemas.microsoft.com/office/drawing/2014/main" id="{7BD0A8FE-D86D-4AFE-8735-200A146C43E8}"/>
              </a:ext>
            </a:extLst>
          </p:cNvPr>
          <p:cNvSpPr>
            <a:spLocks xmlns:a="http://schemas.openxmlformats.org/drawingml/2006/main" noGrp="1"/>
          </p:cNvSpPr>
          <p:nvPr/>
        </p:nvSpPr>
        <p:spPr>
          <a:xfrm xmlns:a="http://schemas.openxmlformats.org/drawingml/2006/main">
            <a:off x="6515100" y="21621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C6470"/>
                </a:solidFill>
                <a:latin typeface="Helvetica Neue"/>
                <a:ea typeface="Helvetica Neue"/>
                <a:cs typeface="Helvetica Neue"/>
              </a:defRPr>
            </a:pPr>
            <a:r>
              <a:rPr sz="1200" b="1">
                <a:solidFill>
                  <a:srgbClr val="5C6470"/>
                </a:solidFill>
                <a:latin typeface="Helvetica Neue"/>
                <a:ea typeface="Helvetica Neue"/>
                <a:cs typeface="Helvetica Neue"/>
              </a:rPr>
              <a:t>West African lineage</a:t>
            </a:r>
          </a:p>
        </p:txBody>
      </p:sp>
      <p:sp>
        <p:nvSpPr>
          <p:cNvPr id="16" name="">
            <a:extLst xmlns:a="http://schemas.openxmlformats.org/drawingml/2006/main">
              <a:ext uri="{FF2B5EF4-FFF2-40B4-BE49-F238E27FC236}">
                <a16:creationId xmlns:a16="http://schemas.microsoft.com/office/drawing/2014/main" id="{AFEAE810-9A5C-49C9-AC89-0B6F7486A28E}"/>
              </a:ext>
            </a:extLst>
          </p:cNvPr>
          <p:cNvSpPr>
            <a:spLocks xmlns:a="http://schemas.openxmlformats.org/drawingml/2006/main" noGrp="1"/>
          </p:cNvSpPr>
          <p:nvPr/>
        </p:nvSpPr>
        <p:spPr>
          <a:xfrm xmlns:a="http://schemas.openxmlformats.org/drawingml/2006/main">
            <a:off x="6515100" y="24574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R² = 0.12 · P = 3×10⁻⁶</a:t>
            </a:r>
          </a:p>
        </p:txBody>
      </p:sp>
      <p:sp>
        <p:nvSpPr>
          <p:cNvPr id="17" name="">
            <a:extLst xmlns:a="http://schemas.openxmlformats.org/drawingml/2006/main">
              <a:ext uri="{FF2B5EF4-FFF2-40B4-BE49-F238E27FC236}">
                <a16:creationId xmlns:a16="http://schemas.microsoft.com/office/drawing/2014/main" id="{B92981BB-6FF6-48A5-B539-C77A0853EDAD}"/>
              </a:ext>
            </a:extLst>
          </p:cNvPr>
          <p:cNvSpPr>
            <a:spLocks xmlns:a="http://schemas.openxmlformats.org/drawingml/2006/main" noGrp="1"/>
          </p:cNvSpPr>
          <p:nvPr/>
        </p:nvSpPr>
        <p:spPr>
          <a:xfrm xmlns:a="http://schemas.openxmlformats.org/drawingml/2006/main">
            <a:off x="6515100" y="27813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0">
                <a:solidFill>
                  <a:srgbClr val="000000"/>
                </a:solidFill>
                <a:latin typeface="Helvetica Neue"/>
                <a:ea typeface="Helvetica Neue"/>
                <a:cs typeface="Helvetica Neue"/>
              </a:defRPr>
            </a:pPr>
            <a:r>
              <a:rPr sz="1238" b="0">
                <a:solidFill>
                  <a:srgbClr val="000000"/>
                </a:solidFill>
                <a:latin typeface="Helvetica Neue"/>
                <a:ea typeface="Helvetica Neue"/>
                <a:cs typeface="Helvetica Neue"/>
              </a:rPr>
              <a:t>A modest fit was still informative—and the independent date-randomisation test passed.</a:t>
            </a:r>
          </a:p>
        </p:txBody>
      </p:sp>
      <p:sp>
        <p:nvSpPr>
          <p:cNvPr id="18" name="">
            <a:extLst xmlns:a="http://schemas.openxmlformats.org/drawingml/2006/main">
              <a:ext uri="{FF2B5EF4-FFF2-40B4-BE49-F238E27FC236}">
                <a16:creationId xmlns:a16="http://schemas.microsoft.com/office/drawing/2014/main" id="{6D4E5F13-FA68-4147-BB4E-B388DC83E68D}"/>
              </a:ext>
            </a:extLst>
          </p:cNvPr>
          <p:cNvSpPr>
            <a:spLocks xmlns:a="http://schemas.openxmlformats.org/drawingml/2006/main" noGrp="1"/>
          </p:cNvSpPr>
          <p:nvPr/>
        </p:nvSpPr>
        <p:spPr>
          <a:xfrm xmlns:a="http://schemas.openxmlformats.org/drawingml/2006/main">
            <a:off x="6515100" y="32004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Park et al. · Nature Communications 2018</a:t>
            </a:r>
          </a:p>
        </p:txBody>
      </p:sp>
      <p:sp>
        <p:nvSpPr>
          <p:cNvPr id="19" name="">
            <a:extLst xmlns:a="http://schemas.openxmlformats.org/drawingml/2006/main">
              <a:ext uri="{FF2B5EF4-FFF2-40B4-BE49-F238E27FC236}">
                <a16:creationId xmlns:a16="http://schemas.microsoft.com/office/drawing/2014/main" id="{95BCC035-DEBF-418D-AF9A-26D2248D2A6B}"/>
              </a:ext>
            </a:extLst>
          </p:cNvPr>
          <p:cNvSpPr>
            <a:spLocks xmlns:a="http://schemas.openxmlformats.org/drawingml/2006/main" noGrp="1"/>
          </p:cNvSpPr>
          <p:nvPr/>
        </p:nvSpPr>
        <p:spPr>
          <a:xfrm xmlns:a="http://schemas.openxmlformats.org/drawingml/2006/main">
            <a:off x="571500" y="3762375"/>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703948C4-7EB5-4BE1-AD4C-5C4D0C728B82}"/>
              </a:ext>
            </a:extLst>
          </p:cNvPr>
          <p:cNvSpPr>
            <a:spLocks xmlns:a="http://schemas.openxmlformats.org/drawingml/2006/main" noGrp="1"/>
          </p:cNvSpPr>
          <p:nvPr/>
        </p:nvSpPr>
        <p:spPr>
          <a:xfrm xmlns:a="http://schemas.openxmlformats.org/drawingml/2006/main">
            <a:off x="571500" y="3762375"/>
            <a:ext cx="114300" cy="1790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40CBCBE-98FA-4547-97F9-1A0AD152D6F9}"/>
              </a:ext>
            </a:extLst>
          </p:cNvPr>
          <p:cNvSpPr>
            <a:spLocks xmlns:a="http://schemas.openxmlformats.org/drawingml/2006/main" noGrp="1"/>
          </p:cNvSpPr>
          <p:nvPr/>
        </p:nvSpPr>
        <p:spPr>
          <a:xfrm xmlns:a="http://schemas.openxmlformats.org/drawingml/2006/main">
            <a:off x="895350" y="393382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Klebsiella pneumoniae ST101</a:t>
            </a:r>
          </a:p>
        </p:txBody>
      </p:sp>
      <p:sp>
        <p:nvSpPr>
          <p:cNvPr id="22" name="">
            <a:extLst xmlns:a="http://schemas.openxmlformats.org/drawingml/2006/main">
              <a:ext uri="{FF2B5EF4-FFF2-40B4-BE49-F238E27FC236}">
                <a16:creationId xmlns:a16="http://schemas.microsoft.com/office/drawing/2014/main" id="{4C133E26-EB8C-4E1C-A94B-4EF0B99C5B5A}"/>
              </a:ext>
            </a:extLst>
          </p:cNvPr>
          <p:cNvSpPr>
            <a:spLocks xmlns:a="http://schemas.openxmlformats.org/drawingml/2006/main" noGrp="1"/>
          </p:cNvSpPr>
          <p:nvPr/>
        </p:nvSpPr>
        <p:spPr>
          <a:xfrm xmlns:a="http://schemas.openxmlformats.org/drawingml/2006/main">
            <a:off x="895350" y="43053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C6470"/>
                </a:solidFill>
                <a:latin typeface="Helvetica Neue"/>
                <a:ea typeface="Helvetica Neue"/>
                <a:cs typeface="Helvetica Neue"/>
              </a:defRPr>
            </a:pPr>
            <a:r>
              <a:rPr sz="1200" b="1">
                <a:solidFill>
                  <a:srgbClr val="5C6470"/>
                </a:solidFill>
                <a:latin typeface="Helvetica Neue"/>
                <a:ea typeface="Helvetica Neue"/>
                <a:cs typeface="Helvetica Neue"/>
              </a:rPr>
              <a:t>36 dated global genomes</a:t>
            </a:r>
          </a:p>
        </p:txBody>
      </p:sp>
      <p:sp>
        <p:nvSpPr>
          <p:cNvPr id="23" name="">
            <a:extLst xmlns:a="http://schemas.openxmlformats.org/drawingml/2006/main">
              <a:ext uri="{FF2B5EF4-FFF2-40B4-BE49-F238E27FC236}">
                <a16:creationId xmlns:a16="http://schemas.microsoft.com/office/drawing/2014/main" id="{C744D8B0-EF82-4BFB-898E-1804C6BFDA9F}"/>
              </a:ext>
            </a:extLst>
          </p:cNvPr>
          <p:cNvSpPr>
            <a:spLocks xmlns:a="http://schemas.openxmlformats.org/drawingml/2006/main" noGrp="1"/>
          </p:cNvSpPr>
          <p:nvPr/>
        </p:nvSpPr>
        <p:spPr>
          <a:xfrm xmlns:a="http://schemas.openxmlformats.org/drawingml/2006/main">
            <a:off x="895350" y="46005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Positive slope · 10,000 permutations P = 0.339</a:t>
            </a:r>
          </a:p>
        </p:txBody>
      </p:sp>
      <p:sp>
        <p:nvSpPr>
          <p:cNvPr id="24" name="">
            <a:extLst xmlns:a="http://schemas.openxmlformats.org/drawingml/2006/main">
              <a:ext uri="{FF2B5EF4-FFF2-40B4-BE49-F238E27FC236}">
                <a16:creationId xmlns:a16="http://schemas.microsoft.com/office/drawing/2014/main" id="{FC801A8C-FE5A-4926-9EB8-18AB60CC3D45}"/>
              </a:ext>
            </a:extLst>
          </p:cNvPr>
          <p:cNvSpPr>
            <a:spLocks xmlns:a="http://schemas.openxmlformats.org/drawingml/2006/main" noGrp="1"/>
          </p:cNvSpPr>
          <p:nvPr/>
        </p:nvSpPr>
        <p:spPr>
          <a:xfrm xmlns:a="http://schemas.openxmlformats.org/drawingml/2006/main">
            <a:off x="895350" y="49244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0">
                <a:solidFill>
                  <a:srgbClr val="000000"/>
                </a:solidFill>
                <a:latin typeface="Helvetica Neue"/>
                <a:ea typeface="Helvetica Neue"/>
                <a:cs typeface="Helvetica Neue"/>
              </a:defRPr>
            </a:pPr>
            <a:r>
              <a:rPr sz="1238" b="0">
                <a:solidFill>
                  <a:srgbClr val="000000"/>
                </a:solidFill>
                <a:latin typeface="Helvetica Neue"/>
                <a:ea typeface="Helvetica Neue"/>
                <a:cs typeface="Helvetica Neue"/>
              </a:rPr>
              <a:t>It looked clock-like, but the dates were not more informative than chance.</a:t>
            </a:r>
          </a:p>
        </p:txBody>
      </p:sp>
      <p:sp>
        <p:nvSpPr>
          <p:cNvPr id="25" name="">
            <a:extLst xmlns:a="http://schemas.openxmlformats.org/drawingml/2006/main">
              <a:ext uri="{FF2B5EF4-FFF2-40B4-BE49-F238E27FC236}">
                <a16:creationId xmlns:a16="http://schemas.microsoft.com/office/drawing/2014/main" id="{CE7F0A2B-685B-42AC-BD46-4C82976C50C3}"/>
              </a:ext>
            </a:extLst>
          </p:cNvPr>
          <p:cNvSpPr>
            <a:spLocks xmlns:a="http://schemas.openxmlformats.org/drawingml/2006/main" noGrp="1"/>
          </p:cNvSpPr>
          <p:nvPr/>
        </p:nvSpPr>
        <p:spPr>
          <a:xfrm xmlns:a="http://schemas.openxmlformats.org/drawingml/2006/main">
            <a:off x="895350" y="5343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Roe et al. · Frontiers in Microbiology 2019</a:t>
            </a:r>
          </a:p>
        </p:txBody>
      </p:sp>
      <p:sp>
        <p:nvSpPr>
          <p:cNvPr id="26" name="">
            <a:extLst xmlns:a="http://schemas.openxmlformats.org/drawingml/2006/main">
              <a:ext uri="{FF2B5EF4-FFF2-40B4-BE49-F238E27FC236}">
                <a16:creationId xmlns:a16="http://schemas.microsoft.com/office/drawing/2014/main" id="{F0880D61-5126-4108-A1C5-C0EC49435C1B}"/>
              </a:ext>
            </a:extLst>
          </p:cNvPr>
          <p:cNvSpPr>
            <a:spLocks xmlns:a="http://schemas.openxmlformats.org/drawingml/2006/main" noGrp="1"/>
          </p:cNvSpPr>
          <p:nvPr/>
        </p:nvSpPr>
        <p:spPr>
          <a:xfrm xmlns:a="http://schemas.openxmlformats.org/drawingml/2006/main">
            <a:off x="6191250" y="3762375"/>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5FCDF3A9-5DAC-489C-AF00-759ECE794913}"/>
              </a:ext>
            </a:extLst>
          </p:cNvPr>
          <p:cNvSpPr>
            <a:spLocks xmlns:a="http://schemas.openxmlformats.org/drawingml/2006/main" noGrp="1"/>
          </p:cNvSpPr>
          <p:nvPr/>
        </p:nvSpPr>
        <p:spPr>
          <a:xfrm xmlns:a="http://schemas.openxmlformats.org/drawingml/2006/main">
            <a:off x="6191250" y="3762375"/>
            <a:ext cx="114300" cy="1790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ABE2825-0104-4523-A35A-192FDB9194A0}"/>
              </a:ext>
            </a:extLst>
          </p:cNvPr>
          <p:cNvSpPr>
            <a:spLocks xmlns:a="http://schemas.openxmlformats.org/drawingml/2006/main" noGrp="1"/>
          </p:cNvSpPr>
          <p:nvPr/>
        </p:nvSpPr>
        <p:spPr>
          <a:xfrm xmlns:a="http://schemas.openxmlformats.org/drawingml/2006/main">
            <a:off x="6515100" y="393382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Mycobacterium tuberculosis</a:t>
            </a:r>
          </a:p>
        </p:txBody>
      </p:sp>
      <p:sp>
        <p:nvSpPr>
          <p:cNvPr id="29" name="">
            <a:extLst xmlns:a="http://schemas.openxmlformats.org/drawingml/2006/main">
              <a:ext uri="{FF2B5EF4-FFF2-40B4-BE49-F238E27FC236}">
                <a16:creationId xmlns:a16="http://schemas.microsoft.com/office/drawing/2014/main" id="{7A7DFED4-3143-4C92-9396-7F05DED5F94E}"/>
              </a:ext>
            </a:extLst>
          </p:cNvPr>
          <p:cNvSpPr>
            <a:spLocks xmlns:a="http://schemas.openxmlformats.org/drawingml/2006/main" noGrp="1"/>
          </p:cNvSpPr>
          <p:nvPr/>
        </p:nvSpPr>
        <p:spPr>
          <a:xfrm xmlns:a="http://schemas.openxmlformats.org/drawingml/2006/main">
            <a:off x="6515100" y="43053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5C6470"/>
                </a:solidFill>
                <a:latin typeface="Helvetica Neue"/>
                <a:ea typeface="Helvetica Neue"/>
                <a:cs typeface="Helvetica Neue"/>
              </a:defRPr>
            </a:pPr>
            <a:r>
              <a:rPr sz="1200" b="1">
                <a:solidFill>
                  <a:srgbClr val="5C6470"/>
                </a:solidFill>
                <a:latin typeface="Helvetica Neue"/>
                <a:ea typeface="Helvetica Neue"/>
                <a:cs typeface="Helvetica Neue"/>
              </a:rPr>
              <a:t>6,285 genomes across lineages</a:t>
            </a:r>
          </a:p>
        </p:txBody>
      </p:sp>
      <p:sp>
        <p:nvSpPr>
          <p:cNvPr id="30" name="">
            <a:extLst xmlns:a="http://schemas.openxmlformats.org/drawingml/2006/main">
              <a:ext uri="{FF2B5EF4-FFF2-40B4-BE49-F238E27FC236}">
                <a16:creationId xmlns:a16="http://schemas.microsoft.com/office/drawing/2014/main" id="{383066CB-EB03-4ADB-B5FD-F196DE4E9B76}"/>
              </a:ext>
            </a:extLst>
          </p:cNvPr>
          <p:cNvSpPr>
            <a:spLocks xmlns:a="http://schemas.openxmlformats.org/drawingml/2006/main" noGrp="1"/>
          </p:cNvSpPr>
          <p:nvPr/>
        </p:nvSpPr>
        <p:spPr>
          <a:xfrm xmlns:a="http://schemas.openxmlformats.org/drawingml/2006/main">
            <a:off x="6515100" y="46005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R² ≤ 0.10 · several negative slopes</a:t>
            </a:r>
          </a:p>
        </p:txBody>
      </p:sp>
      <p:sp>
        <p:nvSpPr>
          <p:cNvPr id="31" name="">
            <a:extLst xmlns:a="http://schemas.openxmlformats.org/drawingml/2006/main">
              <a:ext uri="{FF2B5EF4-FFF2-40B4-BE49-F238E27FC236}">
                <a16:creationId xmlns:a16="http://schemas.microsoft.com/office/drawing/2014/main" id="{BF8BDF4D-8E2D-41D4-9C3E-48D91454136F}"/>
              </a:ext>
            </a:extLst>
          </p:cNvPr>
          <p:cNvSpPr>
            <a:spLocks xmlns:a="http://schemas.openxmlformats.org/drawingml/2006/main" noGrp="1"/>
          </p:cNvSpPr>
          <p:nvPr/>
        </p:nvSpPr>
        <p:spPr>
          <a:xfrm xmlns:a="http://schemas.openxmlformats.org/drawingml/2006/main">
            <a:off x="6515100" y="49244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0">
                <a:solidFill>
                  <a:srgbClr val="000000"/>
                </a:solidFill>
                <a:latin typeface="Helvetica Neue"/>
                <a:ea typeface="Helvetica Neue"/>
                <a:cs typeface="Helvetica Neue"/>
              </a:defRPr>
            </a:pPr>
            <a:r>
              <a:rPr sz="1238" b="0">
                <a:solidFill>
                  <a:srgbClr val="000000"/>
                </a:solidFill>
                <a:latin typeface="Helvetica Neue"/>
                <a:ea typeface="Helvetica Neue"/>
                <a:cs typeface="Helvetica Neue"/>
              </a:rPr>
              <a:t>Reliable estimates generally needed sampling windows of about 15 years or more.</a:t>
            </a:r>
          </a:p>
        </p:txBody>
      </p:sp>
      <p:sp>
        <p:nvSpPr>
          <p:cNvPr id="32" name="">
            <a:extLst xmlns:a="http://schemas.openxmlformats.org/drawingml/2006/main">
              <a:ext uri="{FF2B5EF4-FFF2-40B4-BE49-F238E27FC236}">
                <a16:creationId xmlns:a16="http://schemas.microsoft.com/office/drawing/2014/main" id="{5369594B-F75F-41E3-8A21-E3C0E01C1DA0}"/>
              </a:ext>
            </a:extLst>
          </p:cNvPr>
          <p:cNvSpPr>
            <a:spLocks xmlns:a="http://schemas.openxmlformats.org/drawingml/2006/main" noGrp="1"/>
          </p:cNvSpPr>
          <p:nvPr/>
        </p:nvSpPr>
        <p:spPr>
          <a:xfrm xmlns:a="http://schemas.openxmlformats.org/drawingml/2006/main">
            <a:off x="6515100" y="5343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Menardo et al. · PLOS Pathogens 2019</a:t>
            </a:r>
          </a:p>
        </p:txBody>
      </p:sp>
      <p:sp>
        <p:nvSpPr>
          <p:cNvPr id="33" name="">
            <a:extLst xmlns:a="http://schemas.openxmlformats.org/drawingml/2006/main">
              <a:ext uri="{FF2B5EF4-FFF2-40B4-BE49-F238E27FC236}">
                <a16:creationId xmlns:a16="http://schemas.microsoft.com/office/drawing/2014/main" id="{D13E409F-BFCA-468F-8E43-BFCAD3B3244C}"/>
              </a:ext>
            </a:extLst>
          </p:cNvPr>
          <p:cNvSpPr>
            <a:spLocks xmlns:a="http://schemas.openxmlformats.org/drawingml/2006/main" noGrp="1"/>
          </p:cNvSpPr>
          <p:nvPr/>
        </p:nvSpPr>
        <p:spPr>
          <a:xfrm xmlns:a="http://schemas.openxmlformats.org/drawingml/2006/main">
            <a:off x="571500" y="5857875"/>
            <a:ext cx="10953750" cy="4000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F520925-6535-4765-B177-6EC408A64138}"/>
              </a:ext>
            </a:extLst>
          </p:cNvPr>
          <p:cNvSpPr>
            <a:spLocks xmlns:a="http://schemas.openxmlformats.org/drawingml/2006/main" noGrp="1"/>
          </p:cNvSpPr>
          <p:nvPr/>
        </p:nvSpPr>
        <p:spPr>
          <a:xfrm xmlns:a="http://schemas.openxmlformats.org/drawingml/2006/main">
            <a:off x="809625" y="59436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Explore with root-to-tip; make the decision with a randomisation test.</a:t>
            </a:r>
          </a:p>
        </p:txBody>
      </p:sp>
    </p:spTree>
    <p:extLst>
      <p:ext uri="{BB962C8B-B14F-4D97-AF65-F5344CB8AC3E}">
        <p14:creationId xmlns:p14="http://schemas.microsoft.com/office/powerpoint/2010/main" val="6004175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7-title">
            <a:extLst xmlns:a="http://schemas.openxmlformats.org/drawingml/2006/main">
              <a:ext uri="{FF2B5EF4-FFF2-40B4-BE49-F238E27FC236}">
                <a16:creationId xmlns:a16="http://schemas.microsoft.com/office/drawing/2014/main" id="{65D435A1-EE92-4080-A11B-E8C8DEF0E12B}"/>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Published date-randomisation tests change the decision</a:t>
            </a:r>
          </a:p>
        </p:txBody>
      </p:sp>
      <p:cxnSp>
        <p:nvCxnSpPr>
          <p:cNvPr id="34"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DE80C55E-B1AF-4EBE-9F6E-2FDF904186C0}"/>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B503E2B4-09B8-41D5-8174-B121758FAE32}"/>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51511D77-9C57-42A1-A1A3-CF9E4254B26F}"/>
              </a:ext>
            </a:extLst>
          </p:cNvPr>
          <p:cNvSpPr>
            <a:spLocks xmlns:a="http://schemas.openxmlformats.org/drawingml/2006/main" noGrp="1"/>
          </p:cNvSpPr>
          <p:nvPr/>
        </p:nvSpPr>
        <p:spPr>
          <a:xfrm xmlns:a="http://schemas.openxmlformats.org/drawingml/2006/main">
            <a:off x="571500" y="1619250"/>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0D17CB0B-4E06-44C9-99CA-BCDC1E10C7A9}"/>
              </a:ext>
            </a:extLst>
          </p:cNvPr>
          <p:cNvSpPr>
            <a:spLocks xmlns:a="http://schemas.openxmlformats.org/drawingml/2006/main" noGrp="1"/>
          </p:cNvSpPr>
          <p:nvPr/>
        </p:nvSpPr>
        <p:spPr>
          <a:xfrm xmlns:a="http://schemas.openxmlformats.org/drawingml/2006/main">
            <a:off x="800100" y="1790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PASS</a:t>
            </a:r>
          </a:p>
        </p:txBody>
      </p:sp>
      <p:sp>
        <p:nvSpPr>
          <p:cNvPr id="7" name="">
            <a:extLst xmlns:a="http://schemas.openxmlformats.org/drawingml/2006/main">
              <a:ext uri="{FF2B5EF4-FFF2-40B4-BE49-F238E27FC236}">
                <a16:creationId xmlns:a16="http://schemas.microsoft.com/office/drawing/2014/main" id="{FAD14ECB-D011-4CFC-8989-6EC87A35DA84}"/>
              </a:ext>
            </a:extLst>
          </p:cNvPr>
          <p:cNvSpPr>
            <a:spLocks xmlns:a="http://schemas.openxmlformats.org/drawingml/2006/main" noGrp="1"/>
          </p:cNvSpPr>
          <p:nvPr/>
        </p:nvSpPr>
        <p:spPr>
          <a:xfrm xmlns:a="http://schemas.openxmlformats.org/drawingml/2006/main">
            <a:off x="800100" y="20859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Mycobacterium leprae</a:t>
            </a:r>
          </a:p>
        </p:txBody>
      </p:sp>
      <p:sp>
        <p:nvSpPr>
          <p:cNvPr id="8" name="">
            <a:extLst xmlns:a="http://schemas.openxmlformats.org/drawingml/2006/main">
              <a:ext uri="{FF2B5EF4-FFF2-40B4-BE49-F238E27FC236}">
                <a16:creationId xmlns:a16="http://schemas.microsoft.com/office/drawing/2014/main" id="{98C4BC8D-2247-4947-B941-4372C837E84D}"/>
              </a:ext>
            </a:extLst>
          </p:cNvPr>
          <p:cNvSpPr>
            <a:spLocks xmlns:a="http://schemas.openxmlformats.org/drawingml/2006/main" noGrp="1"/>
          </p:cNvSpPr>
          <p:nvPr/>
        </p:nvSpPr>
        <p:spPr>
          <a:xfrm xmlns:a="http://schemas.openxmlformats.org/drawingml/2006/main">
            <a:off x="800100" y="24574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10 modern + 5 ancient genomes</a:t>
            </a:r>
          </a:p>
        </p:txBody>
      </p:sp>
      <p:sp>
        <p:nvSpPr>
          <p:cNvPr id="9" name="">
            <a:extLst xmlns:a="http://schemas.openxmlformats.org/drawingml/2006/main">
              <a:ext uri="{FF2B5EF4-FFF2-40B4-BE49-F238E27FC236}">
                <a16:creationId xmlns:a16="http://schemas.microsoft.com/office/drawing/2014/main" id="{82095340-DAFD-45A0-9465-B8FC60966D2F}"/>
              </a:ext>
            </a:extLst>
          </p:cNvPr>
          <p:cNvSpPr>
            <a:spLocks xmlns:a="http://schemas.openxmlformats.org/drawingml/2006/main" noGrp="1"/>
          </p:cNvSpPr>
          <p:nvPr/>
        </p:nvSpPr>
        <p:spPr>
          <a:xfrm xmlns:a="http://schemas.openxmlformats.org/drawingml/2006/main">
            <a:off x="800100" y="27622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R² = 0.90 · date randomisation P &lt; 10⁻⁴</a:t>
            </a:r>
          </a:p>
        </p:txBody>
      </p:sp>
      <p:sp>
        <p:nvSpPr>
          <p:cNvPr id="10" name="">
            <a:extLst xmlns:a="http://schemas.openxmlformats.org/drawingml/2006/main">
              <a:ext uri="{FF2B5EF4-FFF2-40B4-BE49-F238E27FC236}">
                <a16:creationId xmlns:a16="http://schemas.microsoft.com/office/drawing/2014/main" id="{17BCA49F-74A1-4B6A-8680-16BE0D6882EF}"/>
              </a:ext>
            </a:extLst>
          </p:cNvPr>
          <p:cNvSpPr>
            <a:spLocks xmlns:a="http://schemas.openxmlformats.org/drawingml/2006/main" noGrp="1"/>
          </p:cNvSpPr>
          <p:nvPr/>
        </p:nvSpPr>
        <p:spPr>
          <a:xfrm xmlns:a="http://schemas.openxmlformats.org/drawingml/2006/main">
            <a:off x="800100" y="3200400"/>
            <a:ext cx="485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Didelot et al. · NAR 2018</a:t>
            </a:r>
          </a:p>
        </p:txBody>
      </p:sp>
      <p:sp>
        <p:nvSpPr>
          <p:cNvPr id="11" name="">
            <a:extLst xmlns:a="http://schemas.openxmlformats.org/drawingml/2006/main">
              <a:ext uri="{FF2B5EF4-FFF2-40B4-BE49-F238E27FC236}">
                <a16:creationId xmlns:a16="http://schemas.microsoft.com/office/drawing/2014/main" id="{FB6B8BD2-8504-4507-83F1-9342E168E1AE}"/>
              </a:ext>
            </a:extLst>
          </p:cNvPr>
          <p:cNvSpPr>
            <a:spLocks xmlns:a="http://schemas.openxmlformats.org/drawingml/2006/main" noGrp="1"/>
          </p:cNvSpPr>
          <p:nvPr/>
        </p:nvSpPr>
        <p:spPr>
          <a:xfrm xmlns:a="http://schemas.openxmlformats.org/drawingml/2006/main">
            <a:off x="6191250" y="1619250"/>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C60C036-21BB-4C2E-BBA5-DDF23D72B0CB}"/>
              </a:ext>
            </a:extLst>
          </p:cNvPr>
          <p:cNvSpPr>
            <a:spLocks xmlns:a="http://schemas.openxmlformats.org/drawingml/2006/main" noGrp="1"/>
          </p:cNvSpPr>
          <p:nvPr/>
        </p:nvSpPr>
        <p:spPr>
          <a:xfrm xmlns:a="http://schemas.openxmlformats.org/drawingml/2006/main">
            <a:off x="6419850" y="1790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PASS</a:t>
            </a:r>
          </a:p>
        </p:txBody>
      </p:sp>
      <p:sp>
        <p:nvSpPr>
          <p:cNvPr id="13" name="">
            <a:extLst xmlns:a="http://schemas.openxmlformats.org/drawingml/2006/main">
              <a:ext uri="{FF2B5EF4-FFF2-40B4-BE49-F238E27FC236}">
                <a16:creationId xmlns:a16="http://schemas.microsoft.com/office/drawing/2014/main" id="{1F894B76-8524-42C0-B4B1-7E37CF85F08B}"/>
              </a:ext>
            </a:extLst>
          </p:cNvPr>
          <p:cNvSpPr>
            <a:spLocks xmlns:a="http://schemas.openxmlformats.org/drawingml/2006/main" noGrp="1"/>
          </p:cNvSpPr>
          <p:nvPr/>
        </p:nvSpPr>
        <p:spPr>
          <a:xfrm xmlns:a="http://schemas.openxmlformats.org/drawingml/2006/main">
            <a:off x="6419850" y="20859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Salmonella Typhi 3.1.1</a:t>
            </a:r>
          </a:p>
        </p:txBody>
      </p:sp>
      <p:sp>
        <p:nvSpPr>
          <p:cNvPr id="14" name="">
            <a:extLst xmlns:a="http://schemas.openxmlformats.org/drawingml/2006/main">
              <a:ext uri="{FF2B5EF4-FFF2-40B4-BE49-F238E27FC236}">
                <a16:creationId xmlns:a16="http://schemas.microsoft.com/office/drawing/2014/main" id="{DEB0989A-3760-4E48-998F-255BD39DD1C4}"/>
              </a:ext>
            </a:extLst>
          </p:cNvPr>
          <p:cNvSpPr>
            <a:spLocks xmlns:a="http://schemas.openxmlformats.org/drawingml/2006/main" noGrp="1"/>
          </p:cNvSpPr>
          <p:nvPr/>
        </p:nvSpPr>
        <p:spPr>
          <a:xfrm xmlns:a="http://schemas.openxmlformats.org/drawingml/2006/main">
            <a:off x="6419850" y="24574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20 randomised-date analyses</a:t>
            </a:r>
          </a:p>
        </p:txBody>
      </p:sp>
      <p:sp>
        <p:nvSpPr>
          <p:cNvPr id="15" name="">
            <a:extLst xmlns:a="http://schemas.openxmlformats.org/drawingml/2006/main">
              <a:ext uri="{FF2B5EF4-FFF2-40B4-BE49-F238E27FC236}">
                <a16:creationId xmlns:a16="http://schemas.microsoft.com/office/drawing/2014/main" id="{FD8A3DCC-E92F-44B8-9256-77AA057220EA}"/>
              </a:ext>
            </a:extLst>
          </p:cNvPr>
          <p:cNvSpPr>
            <a:spLocks xmlns:a="http://schemas.openxmlformats.org/drawingml/2006/main" noGrp="1"/>
          </p:cNvSpPr>
          <p:nvPr/>
        </p:nvSpPr>
        <p:spPr>
          <a:xfrm xmlns:a="http://schemas.openxmlformats.org/drawingml/2006/main">
            <a:off x="6419850" y="27622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Observed clock-rate estimates did not overlap the randomisations.</a:t>
            </a:r>
          </a:p>
        </p:txBody>
      </p:sp>
      <p:sp>
        <p:nvSpPr>
          <p:cNvPr id="16" name="">
            <a:extLst xmlns:a="http://schemas.openxmlformats.org/drawingml/2006/main">
              <a:ext uri="{FF2B5EF4-FFF2-40B4-BE49-F238E27FC236}">
                <a16:creationId xmlns:a16="http://schemas.microsoft.com/office/drawing/2014/main" id="{099005C1-C77D-45D9-9721-79392B81771D}"/>
              </a:ext>
            </a:extLst>
          </p:cNvPr>
          <p:cNvSpPr>
            <a:spLocks xmlns:a="http://schemas.openxmlformats.org/drawingml/2006/main" noGrp="1"/>
          </p:cNvSpPr>
          <p:nvPr/>
        </p:nvSpPr>
        <p:spPr>
          <a:xfrm xmlns:a="http://schemas.openxmlformats.org/drawingml/2006/main">
            <a:off x="6419850" y="3200400"/>
            <a:ext cx="485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Park et al. · Nature Communications 2018</a:t>
            </a:r>
          </a:p>
        </p:txBody>
      </p:sp>
      <p:sp>
        <p:nvSpPr>
          <p:cNvPr id="17" name="">
            <a:extLst xmlns:a="http://schemas.openxmlformats.org/drawingml/2006/main">
              <a:ext uri="{FF2B5EF4-FFF2-40B4-BE49-F238E27FC236}">
                <a16:creationId xmlns:a16="http://schemas.microsoft.com/office/drawing/2014/main" id="{14A2C907-F84E-40F5-A7E8-7DB1AD8D66F4}"/>
              </a:ext>
            </a:extLst>
          </p:cNvPr>
          <p:cNvSpPr>
            <a:spLocks xmlns:a="http://schemas.openxmlformats.org/drawingml/2006/main" noGrp="1"/>
          </p:cNvSpPr>
          <p:nvPr/>
        </p:nvSpPr>
        <p:spPr>
          <a:xfrm xmlns:a="http://schemas.openxmlformats.org/drawingml/2006/main">
            <a:off x="571500" y="3762375"/>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850F8C42-5FA7-485E-BF74-DB3F75E44CE4}"/>
              </a:ext>
            </a:extLst>
          </p:cNvPr>
          <p:cNvSpPr>
            <a:spLocks xmlns:a="http://schemas.openxmlformats.org/drawingml/2006/main" noGrp="1"/>
          </p:cNvSpPr>
          <p:nvPr/>
        </p:nvSpPr>
        <p:spPr>
          <a:xfrm xmlns:a="http://schemas.openxmlformats.org/drawingml/2006/main">
            <a:off x="800100" y="39338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PASS</a:t>
            </a:r>
          </a:p>
        </p:txBody>
      </p:sp>
      <p:sp>
        <p:nvSpPr>
          <p:cNvPr id="19" name="">
            <a:extLst xmlns:a="http://schemas.openxmlformats.org/drawingml/2006/main">
              <a:ext uri="{FF2B5EF4-FFF2-40B4-BE49-F238E27FC236}">
                <a16:creationId xmlns:a16="http://schemas.microsoft.com/office/drawing/2014/main" id="{A6D279A5-DCFC-4103-98AA-1E5871EB885D}"/>
              </a:ext>
            </a:extLst>
          </p:cNvPr>
          <p:cNvSpPr>
            <a:spLocks xmlns:a="http://schemas.openxmlformats.org/drawingml/2006/main" noGrp="1"/>
          </p:cNvSpPr>
          <p:nvPr/>
        </p:nvSpPr>
        <p:spPr>
          <a:xfrm xmlns:a="http://schemas.openxmlformats.org/drawingml/2006/main">
            <a:off x="800100" y="42291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Klebsiella pneumoniae ST17</a:t>
            </a:r>
          </a:p>
        </p:txBody>
      </p:sp>
      <p:sp>
        <p:nvSpPr>
          <p:cNvPr id="20" name="">
            <a:extLst xmlns:a="http://schemas.openxmlformats.org/drawingml/2006/main">
              <a:ext uri="{FF2B5EF4-FFF2-40B4-BE49-F238E27FC236}">
                <a16:creationId xmlns:a16="http://schemas.microsoft.com/office/drawing/2014/main" id="{A033D73D-0D8D-4757-99E5-3EBB5945FB56}"/>
              </a:ext>
            </a:extLst>
          </p:cNvPr>
          <p:cNvSpPr>
            <a:spLocks xmlns:a="http://schemas.openxmlformats.org/drawingml/2006/main" noGrp="1"/>
          </p:cNvSpPr>
          <p:nvPr/>
        </p:nvSpPr>
        <p:spPr>
          <a:xfrm xmlns:a="http://schemas.openxmlformats.org/drawingml/2006/main">
            <a:off x="800100" y="460057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145 genomes selected from a global set of 300</a:t>
            </a:r>
          </a:p>
        </p:txBody>
      </p:sp>
      <p:sp>
        <p:nvSpPr>
          <p:cNvPr id="21" name="">
            <a:extLst xmlns:a="http://schemas.openxmlformats.org/drawingml/2006/main">
              <a:ext uri="{FF2B5EF4-FFF2-40B4-BE49-F238E27FC236}">
                <a16:creationId xmlns:a16="http://schemas.microsoft.com/office/drawing/2014/main" id="{4EE9518A-34CE-45B7-BBC4-465021D6C90C}"/>
              </a:ext>
            </a:extLst>
          </p:cNvPr>
          <p:cNvSpPr>
            <a:spLocks xmlns:a="http://schemas.openxmlformats.org/drawingml/2006/main" noGrp="1"/>
          </p:cNvSpPr>
          <p:nvPr/>
        </p:nvSpPr>
        <p:spPr>
          <a:xfrm xmlns:a="http://schemas.openxmlformats.org/drawingml/2006/main">
            <a:off x="800100" y="4905375"/>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DRT confirmed signal · estimated 2.17 SNPs/year.</a:t>
            </a:r>
          </a:p>
        </p:txBody>
      </p:sp>
      <p:sp>
        <p:nvSpPr>
          <p:cNvPr id="22" name="">
            <a:extLst xmlns:a="http://schemas.openxmlformats.org/drawingml/2006/main">
              <a:ext uri="{FF2B5EF4-FFF2-40B4-BE49-F238E27FC236}">
                <a16:creationId xmlns:a16="http://schemas.microsoft.com/office/drawing/2014/main" id="{8CE70AB7-6D66-46FA-A2D8-C8D5AB943179}"/>
              </a:ext>
            </a:extLst>
          </p:cNvPr>
          <p:cNvSpPr>
            <a:spLocks xmlns:a="http://schemas.openxmlformats.org/drawingml/2006/main" noGrp="1"/>
          </p:cNvSpPr>
          <p:nvPr/>
        </p:nvSpPr>
        <p:spPr>
          <a:xfrm xmlns:a="http://schemas.openxmlformats.org/drawingml/2006/main">
            <a:off x="800100" y="5343525"/>
            <a:ext cx="485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Hetland et al. · Microbial Genomics 2023</a:t>
            </a:r>
          </a:p>
        </p:txBody>
      </p:sp>
      <p:sp>
        <p:nvSpPr>
          <p:cNvPr id="23" name="">
            <a:extLst xmlns:a="http://schemas.openxmlformats.org/drawingml/2006/main">
              <a:ext uri="{FF2B5EF4-FFF2-40B4-BE49-F238E27FC236}">
                <a16:creationId xmlns:a16="http://schemas.microsoft.com/office/drawing/2014/main" id="{22ED8EFC-8B52-4EB4-9473-755EBF56D339}"/>
              </a:ext>
            </a:extLst>
          </p:cNvPr>
          <p:cNvSpPr>
            <a:spLocks xmlns:a="http://schemas.openxmlformats.org/drawingml/2006/main" noGrp="1"/>
          </p:cNvSpPr>
          <p:nvPr/>
        </p:nvSpPr>
        <p:spPr>
          <a:xfrm xmlns:a="http://schemas.openxmlformats.org/drawingml/2006/main">
            <a:off x="6191250" y="3762375"/>
            <a:ext cx="5334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05B8BD88-42FD-4067-8C34-70D026B1ECEB}"/>
              </a:ext>
            </a:extLst>
          </p:cNvPr>
          <p:cNvSpPr>
            <a:spLocks xmlns:a="http://schemas.openxmlformats.org/drawingml/2006/main" noGrp="1"/>
          </p:cNvSpPr>
          <p:nvPr/>
        </p:nvSpPr>
        <p:spPr>
          <a:xfrm xmlns:a="http://schemas.openxmlformats.org/drawingml/2006/main">
            <a:off x="6419850" y="39338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NOT SUPPORTED</a:t>
            </a:r>
          </a:p>
        </p:txBody>
      </p:sp>
      <p:sp>
        <p:nvSpPr>
          <p:cNvPr id="25" name="">
            <a:extLst xmlns:a="http://schemas.openxmlformats.org/drawingml/2006/main">
              <a:ext uri="{FF2B5EF4-FFF2-40B4-BE49-F238E27FC236}">
                <a16:creationId xmlns:a16="http://schemas.microsoft.com/office/drawing/2014/main" id="{8C4A1F67-D9AB-47D5-9546-063E1B6583E0}"/>
              </a:ext>
            </a:extLst>
          </p:cNvPr>
          <p:cNvSpPr>
            <a:spLocks xmlns:a="http://schemas.openxmlformats.org/drawingml/2006/main" noGrp="1"/>
          </p:cNvSpPr>
          <p:nvPr/>
        </p:nvSpPr>
        <p:spPr>
          <a:xfrm xmlns:a="http://schemas.openxmlformats.org/drawingml/2006/main">
            <a:off x="6419850" y="42291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Klebsiella pneumoniae ST101</a:t>
            </a:r>
          </a:p>
        </p:txBody>
      </p:sp>
      <p:sp>
        <p:nvSpPr>
          <p:cNvPr id="26" name="">
            <a:extLst xmlns:a="http://schemas.openxmlformats.org/drawingml/2006/main">
              <a:ext uri="{FF2B5EF4-FFF2-40B4-BE49-F238E27FC236}">
                <a16:creationId xmlns:a16="http://schemas.microsoft.com/office/drawing/2014/main" id="{76FA9FC9-FD43-4B51-A1EC-69CB52C56E48}"/>
              </a:ext>
            </a:extLst>
          </p:cNvPr>
          <p:cNvSpPr>
            <a:spLocks xmlns:a="http://schemas.openxmlformats.org/drawingml/2006/main" noGrp="1"/>
          </p:cNvSpPr>
          <p:nvPr/>
        </p:nvSpPr>
        <p:spPr>
          <a:xfrm xmlns:a="http://schemas.openxmlformats.org/drawingml/2006/main">
            <a:off x="6419850" y="460057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36 dated genomes · narrow sampling window</a:t>
            </a:r>
          </a:p>
        </p:txBody>
      </p:sp>
      <p:sp>
        <p:nvSpPr>
          <p:cNvPr id="27" name="">
            <a:extLst xmlns:a="http://schemas.openxmlformats.org/drawingml/2006/main">
              <a:ext uri="{FF2B5EF4-FFF2-40B4-BE49-F238E27FC236}">
                <a16:creationId xmlns:a16="http://schemas.microsoft.com/office/drawing/2014/main" id="{EC11F12B-1C7D-4E69-A562-7BD505209834}"/>
              </a:ext>
            </a:extLst>
          </p:cNvPr>
          <p:cNvSpPr>
            <a:spLocks xmlns:a="http://schemas.openxmlformats.org/drawingml/2006/main" noGrp="1"/>
          </p:cNvSpPr>
          <p:nvPr/>
        </p:nvSpPr>
        <p:spPr>
          <a:xfrm xmlns:a="http://schemas.openxmlformats.org/drawingml/2006/main">
            <a:off x="6419850" y="4905375"/>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10,000 permutations gave P = 0.339: do not treat the clock as established.</a:t>
            </a:r>
          </a:p>
        </p:txBody>
      </p:sp>
      <p:sp>
        <p:nvSpPr>
          <p:cNvPr id="28" name="">
            <a:extLst xmlns:a="http://schemas.openxmlformats.org/drawingml/2006/main">
              <a:ext uri="{FF2B5EF4-FFF2-40B4-BE49-F238E27FC236}">
                <a16:creationId xmlns:a16="http://schemas.microsoft.com/office/drawing/2014/main" id="{5E9322E6-0FB3-4547-8727-1A8B28B96B66}"/>
              </a:ext>
            </a:extLst>
          </p:cNvPr>
          <p:cNvSpPr>
            <a:spLocks xmlns:a="http://schemas.openxmlformats.org/drawingml/2006/main" noGrp="1"/>
          </p:cNvSpPr>
          <p:nvPr/>
        </p:nvSpPr>
        <p:spPr>
          <a:xfrm xmlns:a="http://schemas.openxmlformats.org/drawingml/2006/main">
            <a:off x="6419850" y="5343525"/>
            <a:ext cx="485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C6470"/>
                </a:solidFill>
                <a:latin typeface="Helvetica Neue"/>
                <a:ea typeface="Helvetica Neue"/>
                <a:cs typeface="Helvetica Neue"/>
              </a:defRPr>
            </a:pPr>
            <a:r>
              <a:rPr sz="825" b="0">
                <a:solidFill>
                  <a:srgbClr val="5C6470"/>
                </a:solidFill>
                <a:latin typeface="Helvetica Neue"/>
                <a:ea typeface="Helvetica Neue"/>
                <a:cs typeface="Helvetica Neue"/>
              </a:rPr>
              <a:t>Roe et al. · Frontiers in Microbiology 2019</a:t>
            </a:r>
          </a:p>
        </p:txBody>
      </p:sp>
      <p:sp>
        <p:nvSpPr>
          <p:cNvPr id="29" name="">
            <a:extLst xmlns:a="http://schemas.openxmlformats.org/drawingml/2006/main">
              <a:ext uri="{FF2B5EF4-FFF2-40B4-BE49-F238E27FC236}">
                <a16:creationId xmlns:a16="http://schemas.microsoft.com/office/drawing/2014/main" id="{531BCDC5-976F-4809-B5C8-2753B7755749}"/>
              </a:ext>
            </a:extLst>
          </p:cNvPr>
          <p:cNvSpPr>
            <a:spLocks xmlns:a="http://schemas.openxmlformats.org/drawingml/2006/main" noGrp="1"/>
          </p:cNvSpPr>
          <p:nvPr/>
        </p:nvSpPr>
        <p:spPr>
          <a:xfrm xmlns:a="http://schemas.openxmlformats.org/drawingml/2006/main">
            <a:off x="571500" y="5857875"/>
            <a:ext cx="10953750" cy="4000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5E2F1DE-96D1-40E8-A6C3-BE21A2F5501A}"/>
              </a:ext>
            </a:extLst>
          </p:cNvPr>
          <p:cNvSpPr>
            <a:spLocks xmlns:a="http://schemas.openxmlformats.org/drawingml/2006/main" noGrp="1"/>
          </p:cNvSpPr>
          <p:nvPr/>
        </p:nvSpPr>
        <p:spPr>
          <a:xfrm xmlns:a="http://schemas.openxmlformats.org/drawingml/2006/main">
            <a:off x="809625" y="59436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A defensible workflow must be allowed to say: do not produce a time tree.</a:t>
            </a:r>
          </a:p>
        </p:txBody>
      </p:sp>
    </p:spTree>
    <p:extLst>
      <p:ext uri="{BB962C8B-B14F-4D97-AF65-F5344CB8AC3E}">
        <p14:creationId xmlns:p14="http://schemas.microsoft.com/office/powerpoint/2010/main" val="10871153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8-title">
            <a:extLst xmlns:a="http://schemas.openxmlformats.org/drawingml/2006/main">
              <a:ext uri="{FF2B5EF4-FFF2-40B4-BE49-F238E27FC236}">
                <a16:creationId xmlns:a16="http://schemas.microsoft.com/office/drawing/2014/main" id="{1D0E1D5F-9ABF-4C12-9CDF-F739D3E86413}"/>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96"/>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From dated genomes to a time tree: four conceptual steps</a:t>
            </a:r>
          </a:p>
        </p:txBody>
      </p:sp>
      <p:cxnSp>
        <p:nvCxnSpPr>
          <p:cNvPr id="34"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ABDE1A14-9E57-476E-9E16-89E13954CD7B}"/>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834B8045-8EDE-402E-A4C4-DF06E6DF2048}"/>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cxnSp>
        <p:nvCxnSpPr>
          <p:cNvPr id="37" name=""/>
          <p:cNvCxnSpPr/>
          <p:nvPr/>
        </p:nvCxnSpPr>
        <p:spPr>
          <a:xfrm xmlns:a="http://schemas.openxmlformats.org/drawingml/2006/main">
            <a:off x="2762250" y="3048000"/>
            <a:ext cx="4762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
          <p:cNvCxnSpPr/>
          <p:nvPr/>
        </p:nvCxnSpPr>
        <p:spPr>
          <a:xfrm xmlns:a="http://schemas.openxmlformats.org/drawingml/2006/main">
            <a:off x="5619750" y="3048000"/>
            <a:ext cx="4762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
          <p:cNvCxnSpPr/>
          <p:nvPr/>
        </p:nvCxnSpPr>
        <p:spPr>
          <a:xfrm xmlns:a="http://schemas.openxmlformats.org/drawingml/2006/main">
            <a:off x="8477250" y="3048000"/>
            <a:ext cx="476250" cy="0"/>
          </a:xfrm>
          <a:prstGeom xmlns:a="http://schemas.openxmlformats.org/drawingml/2006/main" prst="straightConnector1">
            <a:avLst/>
          </a:prstGeom>
          <a:ln xmlns:a="http://schemas.openxmlformats.org/drawingml/2006/main" w="19050">
            <a:solidFill>
              <a:srgbClr val="3D8DFF"/>
            </a:solidFill>
            <a:prstDash val="solid"/>
          </a:ln>
        </p:spPr>
      </p:cxnSp>
      <p:sp>
        <p:nvSpPr>
          <p:cNvPr id="8" name="">
            <a:extLst xmlns:a="http://schemas.openxmlformats.org/drawingml/2006/main">
              <a:ext uri="{FF2B5EF4-FFF2-40B4-BE49-F238E27FC236}">
                <a16:creationId xmlns:a16="http://schemas.microsoft.com/office/drawing/2014/main" id="{1725FBFC-9A71-4BD3-982D-D2A59AB9F4E2}"/>
              </a:ext>
            </a:extLst>
          </p:cNvPr>
          <p:cNvSpPr>
            <a:spLocks xmlns:a="http://schemas.openxmlformats.org/drawingml/2006/main" noGrp="1"/>
          </p:cNvSpPr>
          <p:nvPr/>
        </p:nvSpPr>
        <p:spPr>
          <a:xfrm xmlns:a="http://schemas.openxmlformats.org/drawingml/2006/main">
            <a:off x="571500" y="2381250"/>
            <a:ext cx="21907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EA5C0809-0840-4EAA-A4E2-12245543474B}"/>
              </a:ext>
            </a:extLst>
          </p:cNvPr>
          <p:cNvSpPr>
            <a:spLocks xmlns:a="http://schemas.openxmlformats.org/drawingml/2006/main" noGrp="1"/>
          </p:cNvSpPr>
          <p:nvPr/>
        </p:nvSpPr>
        <p:spPr>
          <a:xfrm xmlns:a="http://schemas.openxmlformats.org/drawingml/2006/main">
            <a:off x="742950" y="25431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71C8FAB6-1595-4F67-9B1A-55879CCAB49A}"/>
              </a:ext>
            </a:extLst>
          </p:cNvPr>
          <p:cNvSpPr>
            <a:spLocks xmlns:a="http://schemas.openxmlformats.org/drawingml/2006/main" noGrp="1"/>
          </p:cNvSpPr>
          <p:nvPr/>
        </p:nvSpPr>
        <p:spPr>
          <a:xfrm xmlns:a="http://schemas.openxmlformats.org/drawingml/2006/main">
            <a:off x="742950" y="2933700"/>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Build a clonal tree</a:t>
            </a:r>
          </a:p>
        </p:txBody>
      </p:sp>
      <p:sp>
        <p:nvSpPr>
          <p:cNvPr id="11" name="">
            <a:extLst xmlns:a="http://schemas.openxmlformats.org/drawingml/2006/main">
              <a:ext uri="{FF2B5EF4-FFF2-40B4-BE49-F238E27FC236}">
                <a16:creationId xmlns:a16="http://schemas.microsoft.com/office/drawing/2014/main" id="{98D1768F-4C97-4547-AC98-E1EF414A6E6D}"/>
              </a:ext>
            </a:extLst>
          </p:cNvPr>
          <p:cNvSpPr>
            <a:spLocks xmlns:a="http://schemas.openxmlformats.org/drawingml/2006/main" noGrp="1"/>
          </p:cNvSpPr>
          <p:nvPr/>
        </p:nvSpPr>
        <p:spPr>
          <a:xfrm xmlns:a="http://schemas.openxmlformats.org/drawingml/2006/main">
            <a:off x="742950" y="3476625"/>
            <a:ext cx="1857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Align related genomes and correct recombination.</a:t>
            </a:r>
          </a:p>
        </p:txBody>
      </p:sp>
      <p:sp>
        <p:nvSpPr>
          <p:cNvPr id="12" name="">
            <a:extLst xmlns:a="http://schemas.openxmlformats.org/drawingml/2006/main">
              <a:ext uri="{FF2B5EF4-FFF2-40B4-BE49-F238E27FC236}">
                <a16:creationId xmlns:a16="http://schemas.microsoft.com/office/drawing/2014/main" id="{6498C00E-51E5-4AC7-A752-C3C2999E32DD}"/>
              </a:ext>
            </a:extLst>
          </p:cNvPr>
          <p:cNvSpPr>
            <a:spLocks xmlns:a="http://schemas.openxmlformats.org/drawingml/2006/main" noGrp="1"/>
          </p:cNvSpPr>
          <p:nvPr/>
        </p:nvSpPr>
        <p:spPr>
          <a:xfrm xmlns:a="http://schemas.openxmlformats.org/drawingml/2006/main">
            <a:off x="3429000" y="2381250"/>
            <a:ext cx="21907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D65656F-C6EA-4141-981D-33F1D9200643}"/>
              </a:ext>
            </a:extLst>
          </p:cNvPr>
          <p:cNvSpPr>
            <a:spLocks xmlns:a="http://schemas.openxmlformats.org/drawingml/2006/main" noGrp="1"/>
          </p:cNvSpPr>
          <p:nvPr/>
        </p:nvSpPr>
        <p:spPr>
          <a:xfrm xmlns:a="http://schemas.openxmlformats.org/drawingml/2006/main">
            <a:off x="3600450" y="25431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CF674229-C909-4267-A449-799DBEF6974F}"/>
              </a:ext>
            </a:extLst>
          </p:cNvPr>
          <p:cNvSpPr>
            <a:spLocks xmlns:a="http://schemas.openxmlformats.org/drawingml/2006/main" noGrp="1"/>
          </p:cNvSpPr>
          <p:nvPr/>
        </p:nvSpPr>
        <p:spPr>
          <a:xfrm xmlns:a="http://schemas.openxmlformats.org/drawingml/2006/main">
            <a:off x="3600450" y="2933700"/>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Attach collection dates</a:t>
            </a:r>
          </a:p>
        </p:txBody>
      </p:sp>
      <p:sp>
        <p:nvSpPr>
          <p:cNvPr id="15" name="">
            <a:extLst xmlns:a="http://schemas.openxmlformats.org/drawingml/2006/main">
              <a:ext uri="{FF2B5EF4-FFF2-40B4-BE49-F238E27FC236}">
                <a16:creationId xmlns:a16="http://schemas.microsoft.com/office/drawing/2014/main" id="{4C5FDE10-F8B7-4C50-81F2-8163D32E7796}"/>
              </a:ext>
            </a:extLst>
          </p:cNvPr>
          <p:cNvSpPr>
            <a:spLocks xmlns:a="http://schemas.openxmlformats.org/drawingml/2006/main" noGrp="1"/>
          </p:cNvSpPr>
          <p:nvPr/>
        </p:nvSpPr>
        <p:spPr>
          <a:xfrm xmlns:a="http://schemas.openxmlformats.org/drawingml/2006/main">
            <a:off x="3600450" y="3476625"/>
            <a:ext cx="1857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66"/>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Use the most precise dates available; retain uncertainty.</a:t>
            </a:r>
          </a:p>
        </p:txBody>
      </p:sp>
      <p:sp>
        <p:nvSpPr>
          <p:cNvPr id="16" name="">
            <a:extLst xmlns:a="http://schemas.openxmlformats.org/drawingml/2006/main">
              <a:ext uri="{FF2B5EF4-FFF2-40B4-BE49-F238E27FC236}">
                <a16:creationId xmlns:a16="http://schemas.microsoft.com/office/drawing/2014/main" id="{3C1B8E52-CFD5-468C-96E0-D273D2808C42}"/>
              </a:ext>
            </a:extLst>
          </p:cNvPr>
          <p:cNvSpPr>
            <a:spLocks xmlns:a="http://schemas.openxmlformats.org/drawingml/2006/main" noGrp="1"/>
          </p:cNvSpPr>
          <p:nvPr/>
        </p:nvSpPr>
        <p:spPr>
          <a:xfrm xmlns:a="http://schemas.openxmlformats.org/drawingml/2006/main">
            <a:off x="6286500" y="2381250"/>
            <a:ext cx="21907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81DAECEE-6784-4F66-9B88-1866698AC5AD}"/>
              </a:ext>
            </a:extLst>
          </p:cNvPr>
          <p:cNvSpPr>
            <a:spLocks xmlns:a="http://schemas.openxmlformats.org/drawingml/2006/main" noGrp="1"/>
          </p:cNvSpPr>
          <p:nvPr/>
        </p:nvSpPr>
        <p:spPr>
          <a:xfrm xmlns:a="http://schemas.openxmlformats.org/drawingml/2006/main">
            <a:off x="6457950" y="25431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C466A687-97B5-4280-AAFC-F2F73B4247BB}"/>
              </a:ext>
            </a:extLst>
          </p:cNvPr>
          <p:cNvSpPr>
            <a:spLocks xmlns:a="http://schemas.openxmlformats.org/drawingml/2006/main" noGrp="1"/>
          </p:cNvSpPr>
          <p:nvPr/>
        </p:nvSpPr>
        <p:spPr>
          <a:xfrm xmlns:a="http://schemas.openxmlformats.org/drawingml/2006/main">
            <a:off x="6457950" y="2933700"/>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Test temporal signal</a:t>
            </a:r>
          </a:p>
        </p:txBody>
      </p:sp>
      <p:sp>
        <p:nvSpPr>
          <p:cNvPr id="19" name="">
            <a:extLst xmlns:a="http://schemas.openxmlformats.org/drawingml/2006/main">
              <a:ext uri="{FF2B5EF4-FFF2-40B4-BE49-F238E27FC236}">
                <a16:creationId xmlns:a16="http://schemas.microsoft.com/office/drawing/2014/main" id="{6A132AC8-7CB4-4FD1-8F50-0A5F7D00BD8E}"/>
              </a:ext>
            </a:extLst>
          </p:cNvPr>
          <p:cNvSpPr>
            <a:spLocks xmlns:a="http://schemas.openxmlformats.org/drawingml/2006/main" noGrp="1"/>
          </p:cNvSpPr>
          <p:nvPr/>
        </p:nvSpPr>
        <p:spPr>
          <a:xfrm xmlns:a="http://schemas.openxmlformats.org/drawingml/2006/main">
            <a:off x="6457950" y="3476625"/>
            <a:ext cx="1857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Root-to-tip exploration plus date randomisation.</a:t>
            </a:r>
          </a:p>
        </p:txBody>
      </p:sp>
      <p:sp>
        <p:nvSpPr>
          <p:cNvPr id="20" name="">
            <a:extLst xmlns:a="http://schemas.openxmlformats.org/drawingml/2006/main">
              <a:ext uri="{FF2B5EF4-FFF2-40B4-BE49-F238E27FC236}">
                <a16:creationId xmlns:a16="http://schemas.microsoft.com/office/drawing/2014/main" id="{7A1DEEC8-A520-4272-A746-9AC3462E8476}"/>
              </a:ext>
            </a:extLst>
          </p:cNvPr>
          <p:cNvSpPr>
            <a:spLocks xmlns:a="http://schemas.openxmlformats.org/drawingml/2006/main" noGrp="1"/>
          </p:cNvSpPr>
          <p:nvPr/>
        </p:nvSpPr>
        <p:spPr>
          <a:xfrm xmlns:a="http://schemas.openxmlformats.org/drawingml/2006/main">
            <a:off x="9144000" y="2381250"/>
            <a:ext cx="21907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18A114CA-D35B-4F5C-8934-3E5FF5CA2AA8}"/>
              </a:ext>
            </a:extLst>
          </p:cNvPr>
          <p:cNvSpPr>
            <a:spLocks xmlns:a="http://schemas.openxmlformats.org/drawingml/2006/main" noGrp="1"/>
          </p:cNvSpPr>
          <p:nvPr/>
        </p:nvSpPr>
        <p:spPr>
          <a:xfrm xmlns:a="http://schemas.openxmlformats.org/drawingml/2006/main">
            <a:off x="9315450" y="25431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4</a:t>
            </a:r>
          </a:p>
        </p:txBody>
      </p:sp>
      <p:sp>
        <p:nvSpPr>
          <p:cNvPr id="22" name="">
            <a:extLst xmlns:a="http://schemas.openxmlformats.org/drawingml/2006/main">
              <a:ext uri="{FF2B5EF4-FFF2-40B4-BE49-F238E27FC236}">
                <a16:creationId xmlns:a16="http://schemas.microsoft.com/office/drawing/2014/main" id="{6063891D-B192-4C1F-92EB-EDAFDB2FB152}"/>
              </a:ext>
            </a:extLst>
          </p:cNvPr>
          <p:cNvSpPr>
            <a:spLocks xmlns:a="http://schemas.openxmlformats.org/drawingml/2006/main" noGrp="1"/>
          </p:cNvSpPr>
          <p:nvPr/>
        </p:nvSpPr>
        <p:spPr>
          <a:xfrm xmlns:a="http://schemas.openxmlformats.org/drawingml/2006/main">
            <a:off x="9315450" y="2933700"/>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Fit a molecular clock</a:t>
            </a:r>
          </a:p>
        </p:txBody>
      </p:sp>
      <p:sp>
        <p:nvSpPr>
          <p:cNvPr id="23" name="">
            <a:extLst xmlns:a="http://schemas.openxmlformats.org/drawingml/2006/main">
              <a:ext uri="{FF2B5EF4-FFF2-40B4-BE49-F238E27FC236}">
                <a16:creationId xmlns:a16="http://schemas.microsoft.com/office/drawing/2014/main" id="{BB298BAB-2010-4131-A508-CC965ECF9457}"/>
              </a:ext>
            </a:extLst>
          </p:cNvPr>
          <p:cNvSpPr>
            <a:spLocks xmlns:a="http://schemas.openxmlformats.org/drawingml/2006/main" noGrp="1"/>
          </p:cNvSpPr>
          <p:nvPr/>
        </p:nvSpPr>
        <p:spPr>
          <a:xfrm xmlns:a="http://schemas.openxmlformats.org/drawingml/2006/main">
            <a:off x="9315450" y="3476625"/>
            <a:ext cx="1857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2"/>
          </a:bodyPr>
          <a:lstStyle xmlns:a="http://schemas.openxmlformats.org/drawingml/2006/main"/>
          <a:p xmlns:a="http://schemas.openxmlformats.org/drawingml/2006/main">
            <a:pPr algn="l">
              <a:buNone/>
              <a:defRPr sz="1200" b="0">
                <a:solidFill>
                  <a:srgbClr val="5C6470"/>
                </a:solidFill>
                <a:latin typeface="Helvetica Neue"/>
                <a:ea typeface="Helvetica Neue"/>
                <a:cs typeface="Helvetica Neue"/>
              </a:defRPr>
            </a:pPr>
            <a:r>
              <a:rPr sz="1200" b="0">
                <a:solidFill>
                  <a:srgbClr val="5C6470"/>
                </a:solidFill>
                <a:latin typeface="Helvetica Neue"/>
                <a:ea typeface="Helvetica Neue"/>
                <a:cs typeface="Helvetica Neue"/>
              </a:rPr>
              <a:t>Only when the dates carry more information than chance.</a:t>
            </a:r>
          </a:p>
        </p:txBody>
      </p:sp>
      <p:sp>
        <p:nvSpPr>
          <p:cNvPr id="24" name="">
            <a:extLst xmlns:a="http://schemas.openxmlformats.org/drawingml/2006/main">
              <a:ext uri="{FF2B5EF4-FFF2-40B4-BE49-F238E27FC236}">
                <a16:creationId xmlns:a16="http://schemas.microsoft.com/office/drawing/2014/main" id="{2B5A19A2-4BA2-4855-9B85-971546C40936}"/>
              </a:ext>
            </a:extLst>
          </p:cNvPr>
          <p:cNvSpPr>
            <a:spLocks xmlns:a="http://schemas.openxmlformats.org/drawingml/2006/main" noGrp="1"/>
          </p:cNvSpPr>
          <p:nvPr/>
        </p:nvSpPr>
        <p:spPr>
          <a:xfrm xmlns:a="http://schemas.openxmlformats.org/drawingml/2006/main">
            <a:off x="1428750" y="5000625"/>
            <a:ext cx="9334500" cy="5334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3F1C9D2-6210-49F3-82B1-4E4B1D884F9D}"/>
              </a:ext>
            </a:extLst>
          </p:cNvPr>
          <p:cNvSpPr>
            <a:spLocks xmlns:a="http://schemas.openxmlformats.org/drawingml/2006/main" noGrp="1"/>
          </p:cNvSpPr>
          <p:nvPr/>
        </p:nvSpPr>
        <p:spPr>
          <a:xfrm xmlns:a="http://schemas.openxmlformats.org/drawingml/2006/main">
            <a:off x="1714500" y="512445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The software can vary; the scientific logic does not.</a:t>
            </a:r>
          </a:p>
        </p:txBody>
      </p:sp>
    </p:spTree>
    <p:extLst>
      <p:ext uri="{BB962C8B-B14F-4D97-AF65-F5344CB8AC3E}">
        <p14:creationId xmlns:p14="http://schemas.microsoft.com/office/powerpoint/2010/main" val="534821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9-title">
            <a:extLst xmlns:a="http://schemas.openxmlformats.org/drawingml/2006/main">
              <a:ext uri="{FF2B5EF4-FFF2-40B4-BE49-F238E27FC236}">
                <a16:creationId xmlns:a16="http://schemas.microsoft.com/office/drawing/2014/main" id="{2FF07559-1225-4022-81C1-A21511D3A7D2}"/>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A time-scaled tree places evolution on a calendar</a:t>
            </a:r>
          </a:p>
        </p:txBody>
      </p:sp>
      <p:cxnSp>
        <p:nvCxnSpPr>
          <p:cNvPr id="65"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033B7A4B-9262-4394-9A61-B95192F79347}"/>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A4AF325B-FAB2-4D1D-B7E9-9D2CAAD10070}"/>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cxnSp>
        <p:nvCxnSpPr>
          <p:cNvPr id="68" name=""/>
          <p:cNvCxnSpPr/>
          <p:nvPr/>
        </p:nvCxnSpPr>
        <p:spPr>
          <a:xfrm xmlns:a="http://schemas.openxmlformats.org/drawingml/2006/main">
            <a:off x="1143000" y="3429000"/>
            <a:ext cx="1333500" cy="0"/>
          </a:xfrm>
          <a:prstGeom xmlns:a="http://schemas.openxmlformats.org/drawingml/2006/main" prst="straightConnector1">
            <a:avLst/>
          </a:prstGeom>
          <a:ln xmlns:a="http://schemas.openxmlformats.org/drawingml/2006/main" w="28575">
            <a:solidFill>
              <a:srgbClr val="000000"/>
            </a:solidFill>
            <a:prstDash val="solid"/>
          </a:ln>
        </p:spPr>
      </p:cxnSp>
      <p:cxnSp>
        <p:nvCxnSpPr>
          <p:cNvPr id="69" name=""/>
          <p:cNvCxnSpPr/>
          <p:nvPr/>
        </p:nvCxnSpPr>
        <p:spPr>
          <a:xfrm xmlns:a="http://schemas.openxmlformats.org/drawingml/2006/main">
            <a:off x="2476500" y="2476500"/>
            <a:ext cx="0" cy="1857375"/>
          </a:xfrm>
          <a:prstGeom xmlns:a="http://schemas.openxmlformats.org/drawingml/2006/main" prst="straightConnector1">
            <a:avLst/>
          </a:prstGeom>
          <a:ln xmlns:a="http://schemas.openxmlformats.org/drawingml/2006/main" w="28575">
            <a:solidFill>
              <a:srgbClr val="000000"/>
            </a:solidFill>
            <a:prstDash val="solid"/>
          </a:ln>
        </p:spPr>
      </p:cxnSp>
      <p:cxnSp>
        <p:nvCxnSpPr>
          <p:cNvPr id="70" name=""/>
          <p:cNvCxnSpPr/>
          <p:nvPr/>
        </p:nvCxnSpPr>
        <p:spPr>
          <a:xfrm xmlns:a="http://schemas.openxmlformats.org/drawingml/2006/main">
            <a:off x="2476500" y="2476500"/>
            <a:ext cx="1524000" cy="0"/>
          </a:xfrm>
          <a:prstGeom xmlns:a="http://schemas.openxmlformats.org/drawingml/2006/main" prst="straightConnector1">
            <a:avLst/>
          </a:prstGeom>
          <a:ln xmlns:a="http://schemas.openxmlformats.org/drawingml/2006/main" w="28575">
            <a:solidFill>
              <a:srgbClr val="000000"/>
            </a:solidFill>
            <a:prstDash val="solid"/>
          </a:ln>
        </p:spPr>
      </p:cxnSp>
      <p:cxnSp>
        <p:nvCxnSpPr>
          <p:cNvPr id="71" name=""/>
          <p:cNvCxnSpPr/>
          <p:nvPr/>
        </p:nvCxnSpPr>
        <p:spPr>
          <a:xfrm xmlns:a="http://schemas.openxmlformats.org/drawingml/2006/main">
            <a:off x="2476500" y="4333875"/>
            <a:ext cx="2476500" cy="0"/>
          </a:xfrm>
          <a:prstGeom xmlns:a="http://schemas.openxmlformats.org/drawingml/2006/main" prst="straightConnector1">
            <a:avLst/>
          </a:prstGeom>
          <a:ln xmlns:a="http://schemas.openxmlformats.org/drawingml/2006/main" w="28575">
            <a:solidFill>
              <a:srgbClr val="000000"/>
            </a:solidFill>
            <a:prstDash val="solid"/>
          </a:ln>
        </p:spPr>
      </p:cxnSp>
      <p:cxnSp>
        <p:nvCxnSpPr>
          <p:cNvPr id="72" name=""/>
          <p:cNvCxnSpPr/>
          <p:nvPr/>
        </p:nvCxnSpPr>
        <p:spPr>
          <a:xfrm xmlns:a="http://schemas.openxmlformats.org/drawingml/2006/main">
            <a:off x="4000500" y="1952625"/>
            <a:ext cx="0" cy="1047750"/>
          </a:xfrm>
          <a:prstGeom xmlns:a="http://schemas.openxmlformats.org/drawingml/2006/main" prst="straightConnector1">
            <a:avLst/>
          </a:prstGeom>
          <a:ln xmlns:a="http://schemas.openxmlformats.org/drawingml/2006/main" w="28575">
            <a:solidFill>
              <a:srgbClr val="000000"/>
            </a:solidFill>
            <a:prstDash val="solid"/>
          </a:ln>
        </p:spPr>
      </p:cxnSp>
      <p:cxnSp>
        <p:nvCxnSpPr>
          <p:cNvPr id="73" name=""/>
          <p:cNvCxnSpPr/>
          <p:nvPr/>
        </p:nvCxnSpPr>
        <p:spPr>
          <a:xfrm xmlns:a="http://schemas.openxmlformats.org/drawingml/2006/main">
            <a:off x="4000500" y="1952625"/>
            <a:ext cx="2571750"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74" name=""/>
          <p:cNvCxnSpPr/>
          <p:nvPr/>
        </p:nvCxnSpPr>
        <p:spPr>
          <a:xfrm xmlns:a="http://schemas.openxmlformats.org/drawingml/2006/main">
            <a:off x="4000500" y="3000375"/>
            <a:ext cx="3333750"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75" name=""/>
          <p:cNvCxnSpPr/>
          <p:nvPr/>
        </p:nvCxnSpPr>
        <p:spPr>
          <a:xfrm xmlns:a="http://schemas.openxmlformats.org/drawingml/2006/main">
            <a:off x="4953000" y="3810000"/>
            <a:ext cx="0" cy="1047750"/>
          </a:xfrm>
          <a:prstGeom xmlns:a="http://schemas.openxmlformats.org/drawingml/2006/main" prst="straightConnector1">
            <a:avLst/>
          </a:prstGeom>
          <a:ln xmlns:a="http://schemas.openxmlformats.org/drawingml/2006/main" w="28575">
            <a:solidFill>
              <a:srgbClr val="000000"/>
            </a:solidFill>
            <a:prstDash val="solid"/>
          </a:ln>
        </p:spPr>
      </p:cxnSp>
      <p:cxnSp>
        <p:nvCxnSpPr>
          <p:cNvPr id="76" name=""/>
          <p:cNvCxnSpPr/>
          <p:nvPr/>
        </p:nvCxnSpPr>
        <p:spPr>
          <a:xfrm xmlns:a="http://schemas.openxmlformats.org/drawingml/2006/main">
            <a:off x="4953000" y="3810000"/>
            <a:ext cx="1238250"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77" name=""/>
          <p:cNvCxnSpPr/>
          <p:nvPr/>
        </p:nvCxnSpPr>
        <p:spPr>
          <a:xfrm xmlns:a="http://schemas.openxmlformats.org/drawingml/2006/main">
            <a:off x="4953000" y="4857750"/>
            <a:ext cx="204787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78" name=""/>
          <p:cNvCxnSpPr/>
          <p:nvPr/>
        </p:nvCxnSpPr>
        <p:spPr>
          <a:xfrm xmlns:a="http://schemas.openxmlformats.org/drawingml/2006/main">
            <a:off x="952500" y="5429250"/>
            <a:ext cx="6572250" cy="0"/>
          </a:xfrm>
          <a:prstGeom xmlns:a="http://schemas.openxmlformats.org/drawingml/2006/main" prst="straightConnector1">
            <a:avLst/>
          </a:prstGeom>
          <a:ln xmlns:a="http://schemas.openxmlformats.org/drawingml/2006/main" w="19050">
            <a:solidFill>
              <a:srgbClr val="000000"/>
            </a:solidFill>
            <a:prstDash val="solid"/>
          </a:ln>
        </p:spPr>
      </p:cxnSp>
      <p:cxnSp>
        <p:nvCxnSpPr>
          <p:cNvPr id="79" name=""/>
          <p:cNvCxnSpPr/>
          <p:nvPr/>
        </p:nvCxnSpPr>
        <p:spPr>
          <a:xfrm xmlns:a="http://schemas.openxmlformats.org/drawingml/2006/main">
            <a:off x="1143000" y="5381625"/>
            <a:ext cx="0" cy="95250"/>
          </a:xfrm>
          <a:prstGeom xmlns:a="http://schemas.openxmlformats.org/drawingml/2006/main" prst="straightConnector1">
            <a:avLst/>
          </a:prstGeom>
          <a:ln xmlns:a="http://schemas.openxmlformats.org/drawingml/2006/main" w="9525">
            <a:solidFill>
              <a:srgbClr val="000000"/>
            </a:solidFill>
            <a:prstDash val="solid"/>
          </a:ln>
        </p:spPr>
      </p:cxnSp>
      <p:sp>
        <p:nvSpPr>
          <p:cNvPr id="17" name="">
            <a:extLst xmlns:a="http://schemas.openxmlformats.org/drawingml/2006/main">
              <a:ext uri="{FF2B5EF4-FFF2-40B4-BE49-F238E27FC236}">
                <a16:creationId xmlns:a16="http://schemas.microsoft.com/office/drawing/2014/main" id="{DDCAB057-8EB7-4ED6-878B-DC7D9395B154}"/>
              </a:ext>
            </a:extLst>
          </p:cNvPr>
          <p:cNvSpPr>
            <a:spLocks xmlns:a="http://schemas.openxmlformats.org/drawingml/2006/main" noGrp="1"/>
          </p:cNvSpPr>
          <p:nvPr/>
        </p:nvSpPr>
        <p:spPr>
          <a:xfrm xmlns:a="http://schemas.openxmlformats.org/drawingml/2006/main">
            <a:off x="876300" y="55626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0">
                <a:solidFill>
                  <a:srgbClr val="5C6470"/>
                </a:solidFill>
                <a:latin typeface="Helvetica Neue"/>
                <a:ea typeface="Helvetica Neue"/>
                <a:cs typeface="Helvetica Neue"/>
              </a:defRPr>
            </a:pPr>
            <a:r>
              <a:rPr sz="1050" b="0">
                <a:solidFill>
                  <a:srgbClr val="5C6470"/>
                </a:solidFill>
                <a:latin typeface="Helvetica Neue"/>
                <a:ea typeface="Helvetica Neue"/>
                <a:cs typeface="Helvetica Neue"/>
              </a:rPr>
              <a:t>2019</a:t>
            </a:r>
          </a:p>
        </p:txBody>
      </p:sp>
      <p:cxnSp>
        <p:nvCxnSpPr>
          <p:cNvPr id="81" name=""/>
          <p:cNvCxnSpPr/>
          <p:nvPr/>
        </p:nvCxnSpPr>
        <p:spPr>
          <a:xfrm xmlns:a="http://schemas.openxmlformats.org/drawingml/2006/main">
            <a:off x="2381250" y="5381625"/>
            <a:ext cx="0" cy="95250"/>
          </a:xfrm>
          <a:prstGeom xmlns:a="http://schemas.openxmlformats.org/drawingml/2006/main" prst="straightConnector1">
            <a:avLst/>
          </a:prstGeom>
          <a:ln xmlns:a="http://schemas.openxmlformats.org/drawingml/2006/main" w="9525">
            <a:solidFill>
              <a:srgbClr val="000000"/>
            </a:solidFill>
            <a:prstDash val="solid"/>
          </a:ln>
        </p:spPr>
      </p:cxnSp>
      <p:sp>
        <p:nvSpPr>
          <p:cNvPr id="19" name="">
            <a:extLst xmlns:a="http://schemas.openxmlformats.org/drawingml/2006/main">
              <a:ext uri="{FF2B5EF4-FFF2-40B4-BE49-F238E27FC236}">
                <a16:creationId xmlns:a16="http://schemas.microsoft.com/office/drawing/2014/main" id="{0F4BF95C-33D8-47A8-BE82-D4D1FC7E4681}"/>
              </a:ext>
            </a:extLst>
          </p:cNvPr>
          <p:cNvSpPr>
            <a:spLocks xmlns:a="http://schemas.openxmlformats.org/drawingml/2006/main" noGrp="1"/>
          </p:cNvSpPr>
          <p:nvPr/>
        </p:nvSpPr>
        <p:spPr>
          <a:xfrm xmlns:a="http://schemas.openxmlformats.org/drawingml/2006/main">
            <a:off x="2114550" y="55626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0">
                <a:solidFill>
                  <a:srgbClr val="5C6470"/>
                </a:solidFill>
                <a:latin typeface="Helvetica Neue"/>
                <a:ea typeface="Helvetica Neue"/>
                <a:cs typeface="Helvetica Neue"/>
              </a:defRPr>
            </a:pPr>
            <a:r>
              <a:rPr sz="1050" b="0">
                <a:solidFill>
                  <a:srgbClr val="5C6470"/>
                </a:solidFill>
                <a:latin typeface="Helvetica Neue"/>
                <a:ea typeface="Helvetica Neue"/>
                <a:cs typeface="Helvetica Neue"/>
              </a:rPr>
              <a:t>2020</a:t>
            </a:r>
          </a:p>
        </p:txBody>
      </p:sp>
      <p:cxnSp>
        <p:nvCxnSpPr>
          <p:cNvPr id="83" name=""/>
          <p:cNvCxnSpPr/>
          <p:nvPr/>
        </p:nvCxnSpPr>
        <p:spPr>
          <a:xfrm xmlns:a="http://schemas.openxmlformats.org/drawingml/2006/main">
            <a:off x="3619500" y="5381625"/>
            <a:ext cx="0" cy="95250"/>
          </a:xfrm>
          <a:prstGeom xmlns:a="http://schemas.openxmlformats.org/drawingml/2006/main" prst="straightConnector1">
            <a:avLst/>
          </a:prstGeom>
          <a:ln xmlns:a="http://schemas.openxmlformats.org/drawingml/2006/main" w="9525">
            <a:solidFill>
              <a:srgbClr val="000000"/>
            </a:solidFill>
            <a:prstDash val="solid"/>
          </a:ln>
        </p:spPr>
      </p:cxnSp>
      <p:sp>
        <p:nvSpPr>
          <p:cNvPr id="21" name="">
            <a:extLst xmlns:a="http://schemas.openxmlformats.org/drawingml/2006/main">
              <a:ext uri="{FF2B5EF4-FFF2-40B4-BE49-F238E27FC236}">
                <a16:creationId xmlns:a16="http://schemas.microsoft.com/office/drawing/2014/main" id="{3075DF9C-7B7B-41E8-8790-7EA3400F709F}"/>
              </a:ext>
            </a:extLst>
          </p:cNvPr>
          <p:cNvSpPr>
            <a:spLocks xmlns:a="http://schemas.openxmlformats.org/drawingml/2006/main" noGrp="1"/>
          </p:cNvSpPr>
          <p:nvPr/>
        </p:nvSpPr>
        <p:spPr>
          <a:xfrm xmlns:a="http://schemas.openxmlformats.org/drawingml/2006/main">
            <a:off x="3352800" y="55626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0">
                <a:solidFill>
                  <a:srgbClr val="5C6470"/>
                </a:solidFill>
                <a:latin typeface="Helvetica Neue"/>
                <a:ea typeface="Helvetica Neue"/>
                <a:cs typeface="Helvetica Neue"/>
              </a:defRPr>
            </a:pPr>
            <a:r>
              <a:rPr sz="1050" b="0">
                <a:solidFill>
                  <a:srgbClr val="5C6470"/>
                </a:solidFill>
                <a:latin typeface="Helvetica Neue"/>
                <a:ea typeface="Helvetica Neue"/>
                <a:cs typeface="Helvetica Neue"/>
              </a:rPr>
              <a:t>2021</a:t>
            </a:r>
          </a:p>
        </p:txBody>
      </p:sp>
      <p:cxnSp>
        <p:nvCxnSpPr>
          <p:cNvPr id="85" name=""/>
          <p:cNvCxnSpPr/>
          <p:nvPr/>
        </p:nvCxnSpPr>
        <p:spPr>
          <a:xfrm xmlns:a="http://schemas.openxmlformats.org/drawingml/2006/main">
            <a:off x="4857750" y="5381625"/>
            <a:ext cx="0" cy="95250"/>
          </a:xfrm>
          <a:prstGeom xmlns:a="http://schemas.openxmlformats.org/drawingml/2006/main" prst="straightConnector1">
            <a:avLst/>
          </a:prstGeom>
          <a:ln xmlns:a="http://schemas.openxmlformats.org/drawingml/2006/main" w="9525">
            <a:solidFill>
              <a:srgbClr val="000000"/>
            </a:solidFill>
            <a:prstDash val="solid"/>
          </a:ln>
        </p:spPr>
      </p:cxnSp>
      <p:sp>
        <p:nvSpPr>
          <p:cNvPr id="23" name="">
            <a:extLst xmlns:a="http://schemas.openxmlformats.org/drawingml/2006/main">
              <a:ext uri="{FF2B5EF4-FFF2-40B4-BE49-F238E27FC236}">
                <a16:creationId xmlns:a16="http://schemas.microsoft.com/office/drawing/2014/main" id="{7E7E64F8-7CBB-4429-9FDB-42B5FF370311}"/>
              </a:ext>
            </a:extLst>
          </p:cNvPr>
          <p:cNvSpPr>
            <a:spLocks xmlns:a="http://schemas.openxmlformats.org/drawingml/2006/main" noGrp="1"/>
          </p:cNvSpPr>
          <p:nvPr/>
        </p:nvSpPr>
        <p:spPr>
          <a:xfrm xmlns:a="http://schemas.openxmlformats.org/drawingml/2006/main">
            <a:off x="4591050" y="55626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0">
                <a:solidFill>
                  <a:srgbClr val="5C6470"/>
                </a:solidFill>
                <a:latin typeface="Helvetica Neue"/>
                <a:ea typeface="Helvetica Neue"/>
                <a:cs typeface="Helvetica Neue"/>
              </a:defRPr>
            </a:pPr>
            <a:r>
              <a:rPr sz="1050" b="0">
                <a:solidFill>
                  <a:srgbClr val="5C6470"/>
                </a:solidFill>
                <a:latin typeface="Helvetica Neue"/>
                <a:ea typeface="Helvetica Neue"/>
                <a:cs typeface="Helvetica Neue"/>
              </a:rPr>
              <a:t>2022</a:t>
            </a:r>
          </a:p>
        </p:txBody>
      </p:sp>
      <p:cxnSp>
        <p:nvCxnSpPr>
          <p:cNvPr id="87" name=""/>
          <p:cNvCxnSpPr/>
          <p:nvPr/>
        </p:nvCxnSpPr>
        <p:spPr>
          <a:xfrm xmlns:a="http://schemas.openxmlformats.org/drawingml/2006/main">
            <a:off x="6096000" y="5381625"/>
            <a:ext cx="0" cy="95250"/>
          </a:xfrm>
          <a:prstGeom xmlns:a="http://schemas.openxmlformats.org/drawingml/2006/main" prst="straightConnector1">
            <a:avLst/>
          </a:prstGeom>
          <a:ln xmlns:a="http://schemas.openxmlformats.org/drawingml/2006/main" w="9525">
            <a:solidFill>
              <a:srgbClr val="000000"/>
            </a:solidFill>
            <a:prstDash val="solid"/>
          </a:ln>
        </p:spPr>
      </p:cxnSp>
      <p:sp>
        <p:nvSpPr>
          <p:cNvPr id="25" name="">
            <a:extLst xmlns:a="http://schemas.openxmlformats.org/drawingml/2006/main">
              <a:ext uri="{FF2B5EF4-FFF2-40B4-BE49-F238E27FC236}">
                <a16:creationId xmlns:a16="http://schemas.microsoft.com/office/drawing/2014/main" id="{89E2CC84-37EC-498F-B5FE-1FD161B42641}"/>
              </a:ext>
            </a:extLst>
          </p:cNvPr>
          <p:cNvSpPr>
            <a:spLocks xmlns:a="http://schemas.openxmlformats.org/drawingml/2006/main" noGrp="1"/>
          </p:cNvSpPr>
          <p:nvPr/>
        </p:nvSpPr>
        <p:spPr>
          <a:xfrm xmlns:a="http://schemas.openxmlformats.org/drawingml/2006/main">
            <a:off x="5829300" y="55626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0">
                <a:solidFill>
                  <a:srgbClr val="5C6470"/>
                </a:solidFill>
                <a:latin typeface="Helvetica Neue"/>
                <a:ea typeface="Helvetica Neue"/>
                <a:cs typeface="Helvetica Neue"/>
              </a:defRPr>
            </a:pPr>
            <a:r>
              <a:rPr sz="1050" b="0">
                <a:solidFill>
                  <a:srgbClr val="5C6470"/>
                </a:solidFill>
                <a:latin typeface="Helvetica Neue"/>
                <a:ea typeface="Helvetica Neue"/>
                <a:cs typeface="Helvetica Neue"/>
              </a:rPr>
              <a:t>2023</a:t>
            </a:r>
          </a:p>
        </p:txBody>
      </p:sp>
      <p:cxnSp>
        <p:nvCxnSpPr>
          <p:cNvPr id="89" name=""/>
          <p:cNvCxnSpPr/>
          <p:nvPr/>
        </p:nvCxnSpPr>
        <p:spPr>
          <a:xfrm xmlns:a="http://schemas.openxmlformats.org/drawingml/2006/main">
            <a:off x="7334250" y="5381625"/>
            <a:ext cx="0" cy="95250"/>
          </a:xfrm>
          <a:prstGeom xmlns:a="http://schemas.openxmlformats.org/drawingml/2006/main" prst="straightConnector1">
            <a:avLst/>
          </a:prstGeom>
          <a:ln xmlns:a="http://schemas.openxmlformats.org/drawingml/2006/main" w="9525">
            <a:solidFill>
              <a:srgbClr val="000000"/>
            </a:solidFill>
            <a:prstDash val="solid"/>
          </a:ln>
        </p:spPr>
      </p:cxnSp>
      <p:sp>
        <p:nvSpPr>
          <p:cNvPr id="27" name="">
            <a:extLst xmlns:a="http://schemas.openxmlformats.org/drawingml/2006/main">
              <a:ext uri="{FF2B5EF4-FFF2-40B4-BE49-F238E27FC236}">
                <a16:creationId xmlns:a16="http://schemas.microsoft.com/office/drawing/2014/main" id="{1BB66750-A85C-4A71-8586-E6490CEA8078}"/>
              </a:ext>
            </a:extLst>
          </p:cNvPr>
          <p:cNvSpPr>
            <a:spLocks xmlns:a="http://schemas.openxmlformats.org/drawingml/2006/main" noGrp="1"/>
          </p:cNvSpPr>
          <p:nvPr/>
        </p:nvSpPr>
        <p:spPr>
          <a:xfrm xmlns:a="http://schemas.openxmlformats.org/drawingml/2006/main">
            <a:off x="7067550" y="55626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0">
                <a:solidFill>
                  <a:srgbClr val="5C6470"/>
                </a:solidFill>
                <a:latin typeface="Helvetica Neue"/>
                <a:ea typeface="Helvetica Neue"/>
                <a:cs typeface="Helvetica Neue"/>
              </a:defRPr>
            </a:pPr>
            <a:r>
              <a:rPr sz="1050" b="0">
                <a:solidFill>
                  <a:srgbClr val="5C6470"/>
                </a:solidFill>
                <a:latin typeface="Helvetica Neue"/>
                <a:ea typeface="Helvetica Neue"/>
                <a:cs typeface="Helvetica Neue"/>
              </a:rPr>
              <a:t>2024</a:t>
            </a:r>
          </a:p>
        </p:txBody>
      </p:sp>
      <p:sp>
        <p:nvSpPr>
          <p:cNvPr id="28" name="">
            <a:extLst xmlns:a="http://schemas.openxmlformats.org/drawingml/2006/main">
              <a:ext uri="{FF2B5EF4-FFF2-40B4-BE49-F238E27FC236}">
                <a16:creationId xmlns:a16="http://schemas.microsoft.com/office/drawing/2014/main" id="{938781E0-7DC2-46C2-8154-03F36846F5B7}"/>
              </a:ext>
            </a:extLst>
          </p:cNvPr>
          <p:cNvSpPr>
            <a:spLocks xmlns:a="http://schemas.openxmlformats.org/drawingml/2006/main" noGrp="1"/>
          </p:cNvSpPr>
          <p:nvPr/>
        </p:nvSpPr>
        <p:spPr>
          <a:xfrm xmlns:a="http://schemas.openxmlformats.org/drawingml/2006/main">
            <a:off x="6572250" y="187642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9" name="">
            <a:extLst xmlns:a="http://schemas.openxmlformats.org/drawingml/2006/main">
              <a:ext uri="{FF2B5EF4-FFF2-40B4-BE49-F238E27FC236}">
                <a16:creationId xmlns:a16="http://schemas.microsoft.com/office/drawing/2014/main" id="{57FD11DF-E7E8-4C24-A460-D37B51A64040}"/>
              </a:ext>
            </a:extLst>
          </p:cNvPr>
          <p:cNvSpPr>
            <a:spLocks xmlns:a="http://schemas.openxmlformats.org/drawingml/2006/main" noGrp="1"/>
          </p:cNvSpPr>
          <p:nvPr/>
        </p:nvSpPr>
        <p:spPr>
          <a:xfrm xmlns:a="http://schemas.openxmlformats.org/drawingml/2006/main">
            <a:off x="7334250" y="292417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0" name="">
            <a:extLst xmlns:a="http://schemas.openxmlformats.org/drawingml/2006/main">
              <a:ext uri="{FF2B5EF4-FFF2-40B4-BE49-F238E27FC236}">
                <a16:creationId xmlns:a16="http://schemas.microsoft.com/office/drawing/2014/main" id="{66EC7A52-C175-4E54-92B1-4D0F814C4825}"/>
              </a:ext>
            </a:extLst>
          </p:cNvPr>
          <p:cNvSpPr>
            <a:spLocks xmlns:a="http://schemas.openxmlformats.org/drawingml/2006/main" noGrp="1"/>
          </p:cNvSpPr>
          <p:nvPr/>
        </p:nvSpPr>
        <p:spPr>
          <a:xfrm xmlns:a="http://schemas.openxmlformats.org/drawingml/2006/main">
            <a:off x="6191250" y="3733800"/>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1" name="">
            <a:extLst xmlns:a="http://schemas.openxmlformats.org/drawingml/2006/main">
              <a:ext uri="{FF2B5EF4-FFF2-40B4-BE49-F238E27FC236}">
                <a16:creationId xmlns:a16="http://schemas.microsoft.com/office/drawing/2014/main" id="{86DDEA9F-2ED6-435E-8D1A-8F2BFE70C83D}"/>
              </a:ext>
            </a:extLst>
          </p:cNvPr>
          <p:cNvSpPr>
            <a:spLocks xmlns:a="http://schemas.openxmlformats.org/drawingml/2006/main" noGrp="1"/>
          </p:cNvSpPr>
          <p:nvPr/>
        </p:nvSpPr>
        <p:spPr>
          <a:xfrm xmlns:a="http://schemas.openxmlformats.org/drawingml/2006/main">
            <a:off x="7000875" y="4781550"/>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2" name="">
            <a:extLst xmlns:a="http://schemas.openxmlformats.org/drawingml/2006/main">
              <a:ext uri="{FF2B5EF4-FFF2-40B4-BE49-F238E27FC236}">
                <a16:creationId xmlns:a16="http://schemas.microsoft.com/office/drawing/2014/main" id="{F13A8AF4-D00A-4EDF-96F8-37D403CA087B}"/>
              </a:ext>
            </a:extLst>
          </p:cNvPr>
          <p:cNvSpPr>
            <a:spLocks xmlns:a="http://schemas.openxmlformats.org/drawingml/2006/main" noGrp="1"/>
          </p:cNvSpPr>
          <p:nvPr/>
        </p:nvSpPr>
        <p:spPr>
          <a:xfrm xmlns:a="http://schemas.openxmlformats.org/drawingml/2006/main">
            <a:off x="3714750" y="2143125"/>
            <a:ext cx="571500"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901D351-3040-4816-B186-E61969045BE3}"/>
              </a:ext>
            </a:extLst>
          </p:cNvPr>
          <p:cNvSpPr>
            <a:spLocks xmlns:a="http://schemas.openxmlformats.org/drawingml/2006/main" noGrp="1"/>
          </p:cNvSpPr>
          <p:nvPr/>
        </p:nvSpPr>
        <p:spPr>
          <a:xfrm xmlns:a="http://schemas.openxmlformats.org/drawingml/2006/main">
            <a:off x="3562350" y="2238375"/>
            <a:ext cx="876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estimated</a:t>
            </a:r>
          </a:p>
          <a:p xmlns:a="http://schemas.openxmlformats.org/drawingml/2006/main">
            <a:pPr algn="ctr">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ancestor</a:t>
            </a:r>
          </a:p>
        </p:txBody>
      </p:sp>
      <p:sp>
        <p:nvSpPr>
          <p:cNvPr id="34" name="">
            <a:extLst xmlns:a="http://schemas.openxmlformats.org/drawingml/2006/main">
              <a:ext uri="{FF2B5EF4-FFF2-40B4-BE49-F238E27FC236}">
                <a16:creationId xmlns:a16="http://schemas.microsoft.com/office/drawing/2014/main" id="{440B8C03-A767-458F-BAEC-5EF5C399B7EE}"/>
              </a:ext>
            </a:extLst>
          </p:cNvPr>
          <p:cNvSpPr>
            <a:spLocks xmlns:a="http://schemas.openxmlformats.org/drawingml/2006/main" noGrp="1"/>
          </p:cNvSpPr>
          <p:nvPr/>
        </p:nvSpPr>
        <p:spPr>
          <a:xfrm xmlns:a="http://schemas.openxmlformats.org/drawingml/2006/main">
            <a:off x="8096250" y="16668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How to read it</a:t>
            </a:r>
          </a:p>
        </p:txBody>
      </p:sp>
      <p:sp>
        <p:nvSpPr>
          <p:cNvPr id="35" name="">
            <a:extLst xmlns:a="http://schemas.openxmlformats.org/drawingml/2006/main">
              <a:ext uri="{FF2B5EF4-FFF2-40B4-BE49-F238E27FC236}">
                <a16:creationId xmlns:a16="http://schemas.microsoft.com/office/drawing/2014/main" id="{45AED2B1-1295-4925-B414-02BD68AF4F27}"/>
              </a:ext>
            </a:extLst>
          </p:cNvPr>
          <p:cNvSpPr>
            <a:spLocks xmlns:a="http://schemas.openxmlformats.org/drawingml/2006/main" noGrp="1"/>
          </p:cNvSpPr>
          <p:nvPr/>
        </p:nvSpPr>
        <p:spPr>
          <a:xfrm xmlns:a="http://schemas.openxmlformats.org/drawingml/2006/main">
            <a:off x="8096250" y="2333625"/>
            <a:ext cx="33337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Tips are anchored by collection date</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Horizontal position represents calendar time</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Internal nodes are estimated ancestral dates</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Uncertainty belongs with every date estimate</a:t>
            </a:r>
          </a:p>
        </p:txBody>
      </p:sp>
      <p:sp>
        <p:nvSpPr>
          <p:cNvPr id="36" name="">
            <a:extLst xmlns:a="http://schemas.openxmlformats.org/drawingml/2006/main">
              <a:ext uri="{FF2B5EF4-FFF2-40B4-BE49-F238E27FC236}">
                <a16:creationId xmlns:a16="http://schemas.microsoft.com/office/drawing/2014/main" id="{1B24D3C8-4BEF-47AE-92C8-3EBA89CF29D3}"/>
              </a:ext>
            </a:extLst>
          </p:cNvPr>
          <p:cNvSpPr>
            <a:spLocks xmlns:a="http://schemas.openxmlformats.org/drawingml/2006/main" noGrp="1"/>
          </p:cNvSpPr>
          <p:nvPr/>
        </p:nvSpPr>
        <p:spPr>
          <a:xfrm xmlns:a="http://schemas.openxmlformats.org/drawingml/2006/main">
            <a:off x="8096250" y="4762500"/>
            <a:ext cx="3333750" cy="819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2AF15B6-0DC3-420C-BEBF-15B16766623C}"/>
              </a:ext>
            </a:extLst>
          </p:cNvPr>
          <p:cNvSpPr>
            <a:spLocks xmlns:a="http://schemas.openxmlformats.org/drawingml/2006/main" noGrp="1"/>
          </p:cNvSpPr>
          <p:nvPr/>
        </p:nvSpPr>
        <p:spPr>
          <a:xfrm xmlns:a="http://schemas.openxmlformats.org/drawingml/2006/main">
            <a:off x="8334375" y="49339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332"/>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It estimates when ancestors existed—not who infected whom.</a:t>
            </a:r>
          </a:p>
        </p:txBody>
      </p:sp>
    </p:spTree>
    <p:extLst>
      <p:ext uri="{BB962C8B-B14F-4D97-AF65-F5344CB8AC3E}">
        <p14:creationId xmlns:p14="http://schemas.microsoft.com/office/powerpoint/2010/main" val="4876486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C745A599-572C-46C9-88DB-988185945D42}"/>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Adding time lets us ask better public-health questions</a:t>
            </a:r>
          </a:p>
        </p:txBody>
      </p:sp>
      <p:cxnSp>
        <p:nvCxnSpPr>
          <p:cNvPr id="35"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64687AF6-3650-4855-BACC-A74C715D5184}"/>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8ADC189B-C84F-47E4-BFEF-AD61E295C360}"/>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A831AE89-3079-4EDF-BB07-00037112CA15}"/>
              </a:ext>
            </a:extLst>
          </p:cNvPr>
          <p:cNvSpPr>
            <a:spLocks xmlns:a="http://schemas.openxmlformats.org/drawingml/2006/main" noGrp="1"/>
          </p:cNvSpPr>
          <p:nvPr/>
        </p:nvSpPr>
        <p:spPr>
          <a:xfrm xmlns:a="http://schemas.openxmlformats.org/drawingml/2006/main">
            <a:off x="571500" y="1762125"/>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01</a:t>
            </a:r>
          </a:p>
        </p:txBody>
      </p:sp>
      <p:cxnSp>
        <p:nvCxnSpPr>
          <p:cNvPr id="39" name=""/>
          <p:cNvCxnSpPr/>
          <p:nvPr/>
        </p:nvCxnSpPr>
        <p:spPr>
          <a:xfrm xmlns:a="http://schemas.openxmlformats.org/drawingml/2006/main">
            <a:off x="1314450" y="1914525"/>
            <a:ext cx="4095750" cy="0"/>
          </a:xfrm>
          <a:prstGeom xmlns:a="http://schemas.openxmlformats.org/drawingml/2006/main" prst="straightConnector1">
            <a:avLst/>
          </a:prstGeom>
          <a:ln xmlns:a="http://schemas.openxmlformats.org/drawingml/2006/main" w="9525">
            <a:solidFill>
              <a:srgbClr val="B8BCC4"/>
            </a:solidFill>
            <a:prstDash val="solid"/>
          </a:ln>
        </p:spPr>
      </p:cxnSp>
      <p:sp>
        <p:nvSpPr>
          <p:cNvPr id="7" name="">
            <a:extLst xmlns:a="http://schemas.openxmlformats.org/drawingml/2006/main">
              <a:ext uri="{FF2B5EF4-FFF2-40B4-BE49-F238E27FC236}">
                <a16:creationId xmlns:a16="http://schemas.microsoft.com/office/drawing/2014/main" id="{44637137-C993-4900-BB71-2BC1DD91393C}"/>
              </a:ext>
            </a:extLst>
          </p:cNvPr>
          <p:cNvSpPr>
            <a:spLocks xmlns:a="http://schemas.openxmlformats.org/drawingml/2006/main" noGrp="1"/>
          </p:cNvSpPr>
          <p:nvPr/>
        </p:nvSpPr>
        <p:spPr>
          <a:xfrm xmlns:a="http://schemas.openxmlformats.org/drawingml/2006/main">
            <a:off x="571500" y="2352675"/>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When did this lineage begin circulating locally?</a:t>
            </a:r>
          </a:p>
        </p:txBody>
      </p:sp>
      <p:sp>
        <p:nvSpPr>
          <p:cNvPr id="8" name="">
            <a:extLst xmlns:a="http://schemas.openxmlformats.org/drawingml/2006/main">
              <a:ext uri="{FF2B5EF4-FFF2-40B4-BE49-F238E27FC236}">
                <a16:creationId xmlns:a16="http://schemas.microsoft.com/office/drawing/2014/main" id="{B9F5D48A-EAC7-4F3A-8CC1-0AC52728B3CE}"/>
              </a:ext>
            </a:extLst>
          </p:cNvPr>
          <p:cNvSpPr>
            <a:spLocks xmlns:a="http://schemas.openxmlformats.org/drawingml/2006/main" noGrp="1"/>
          </p:cNvSpPr>
          <p:nvPr/>
        </p:nvSpPr>
        <p:spPr>
          <a:xfrm xmlns:a="http://schemas.openxmlformats.org/drawingml/2006/main">
            <a:off x="6191250" y="1762125"/>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02</a:t>
            </a:r>
          </a:p>
        </p:txBody>
      </p:sp>
      <p:cxnSp>
        <p:nvCxnSpPr>
          <p:cNvPr id="42" name=""/>
          <p:cNvCxnSpPr/>
          <p:nvPr/>
        </p:nvCxnSpPr>
        <p:spPr>
          <a:xfrm xmlns:a="http://schemas.openxmlformats.org/drawingml/2006/main">
            <a:off x="6934200" y="1914525"/>
            <a:ext cx="4095750" cy="0"/>
          </a:xfrm>
          <a:prstGeom xmlns:a="http://schemas.openxmlformats.org/drawingml/2006/main" prst="straightConnector1">
            <a:avLst/>
          </a:prstGeom>
          <a:ln xmlns:a="http://schemas.openxmlformats.org/drawingml/2006/main" w="9525">
            <a:solidFill>
              <a:srgbClr val="B8BCC4"/>
            </a:solidFill>
            <a:prstDash val="solid"/>
          </a:ln>
        </p:spPr>
      </p:cxnSp>
      <p:sp>
        <p:nvSpPr>
          <p:cNvPr id="10" name="">
            <a:extLst xmlns:a="http://schemas.openxmlformats.org/drawingml/2006/main">
              <a:ext uri="{FF2B5EF4-FFF2-40B4-BE49-F238E27FC236}">
                <a16:creationId xmlns:a16="http://schemas.microsoft.com/office/drawing/2014/main" id="{2133AA8F-606D-4E7F-85FE-AAA6A9388439}"/>
              </a:ext>
            </a:extLst>
          </p:cNvPr>
          <p:cNvSpPr>
            <a:spLocks xmlns:a="http://schemas.openxmlformats.org/drawingml/2006/main" noGrp="1"/>
          </p:cNvSpPr>
          <p:nvPr/>
        </p:nvSpPr>
        <p:spPr>
          <a:xfrm xmlns:a="http://schemas.openxmlformats.org/drawingml/2006/main">
            <a:off x="6191250" y="2352675"/>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Do isolates sampled two years apart share a recent ancestor?</a:t>
            </a:r>
          </a:p>
        </p:txBody>
      </p:sp>
      <p:sp>
        <p:nvSpPr>
          <p:cNvPr id="11" name="">
            <a:extLst xmlns:a="http://schemas.openxmlformats.org/drawingml/2006/main">
              <a:ext uri="{FF2B5EF4-FFF2-40B4-BE49-F238E27FC236}">
                <a16:creationId xmlns:a16="http://schemas.microsoft.com/office/drawing/2014/main" id="{8A507562-8998-42A0-B78C-79EE091B1E03}"/>
              </a:ext>
            </a:extLst>
          </p:cNvPr>
          <p:cNvSpPr>
            <a:spLocks xmlns:a="http://schemas.openxmlformats.org/drawingml/2006/main" noGrp="1"/>
          </p:cNvSpPr>
          <p:nvPr/>
        </p:nvSpPr>
        <p:spPr>
          <a:xfrm xmlns:a="http://schemas.openxmlformats.org/drawingml/2006/main">
            <a:off x="571500" y="38100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03</a:t>
            </a:r>
          </a:p>
        </p:txBody>
      </p:sp>
      <p:cxnSp>
        <p:nvCxnSpPr>
          <p:cNvPr id="45" name=""/>
          <p:cNvCxnSpPr/>
          <p:nvPr/>
        </p:nvCxnSpPr>
        <p:spPr>
          <a:xfrm xmlns:a="http://schemas.openxmlformats.org/drawingml/2006/main">
            <a:off x="1314450" y="3962400"/>
            <a:ext cx="4095750" cy="0"/>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ED9E774-924B-4555-BD0B-C8160D127049}"/>
              </a:ext>
            </a:extLst>
          </p:cNvPr>
          <p:cNvSpPr>
            <a:spLocks xmlns:a="http://schemas.openxmlformats.org/drawingml/2006/main" noGrp="1"/>
          </p:cNvSpPr>
          <p:nvPr/>
        </p:nvSpPr>
        <p:spPr>
          <a:xfrm xmlns:a="http://schemas.openxmlformats.org/drawingml/2006/main">
            <a:off x="571500" y="44005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Are later cases nested within earlier local diversity?</a:t>
            </a:r>
          </a:p>
        </p:txBody>
      </p:sp>
      <p:sp>
        <p:nvSpPr>
          <p:cNvPr id="14" name="">
            <a:extLst xmlns:a="http://schemas.openxmlformats.org/drawingml/2006/main">
              <a:ext uri="{FF2B5EF4-FFF2-40B4-BE49-F238E27FC236}">
                <a16:creationId xmlns:a16="http://schemas.microsoft.com/office/drawing/2014/main" id="{6A72EB41-738C-4220-8F2F-AAE6883858A1}"/>
              </a:ext>
            </a:extLst>
          </p:cNvPr>
          <p:cNvSpPr>
            <a:spLocks xmlns:a="http://schemas.openxmlformats.org/drawingml/2006/main" noGrp="1"/>
          </p:cNvSpPr>
          <p:nvPr/>
        </p:nvSpPr>
        <p:spPr>
          <a:xfrm xmlns:a="http://schemas.openxmlformats.org/drawingml/2006/main">
            <a:off x="6191250" y="38100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04</a:t>
            </a:r>
          </a:p>
        </p:txBody>
      </p:sp>
      <p:cxnSp>
        <p:nvCxnSpPr>
          <p:cNvPr id="48" name=""/>
          <p:cNvCxnSpPr/>
          <p:nvPr/>
        </p:nvCxnSpPr>
        <p:spPr>
          <a:xfrm xmlns:a="http://schemas.openxmlformats.org/drawingml/2006/main">
            <a:off x="6934200" y="3962400"/>
            <a:ext cx="4095750" cy="0"/>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A8CE6AC1-3ACB-4A6D-8EF1-4E0EB7C57B87}"/>
              </a:ext>
            </a:extLst>
          </p:cNvPr>
          <p:cNvSpPr>
            <a:spLocks xmlns:a="http://schemas.openxmlformats.org/drawingml/2006/main" noGrp="1"/>
          </p:cNvSpPr>
          <p:nvPr/>
        </p:nvSpPr>
        <p:spPr>
          <a:xfrm xmlns:a="http://schemas.openxmlformats.org/drawingml/2006/main">
            <a:off x="6191250" y="44005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Does the pattern favour persistence, repeated introduction—or neither?</a:t>
            </a:r>
          </a:p>
        </p:txBody>
      </p:sp>
      <p:sp>
        <p:nvSpPr>
          <p:cNvPr id="17" name="">
            <a:extLst xmlns:a="http://schemas.openxmlformats.org/drawingml/2006/main">
              <a:ext uri="{FF2B5EF4-FFF2-40B4-BE49-F238E27FC236}">
                <a16:creationId xmlns:a16="http://schemas.microsoft.com/office/drawing/2014/main" id="{1FBEF08E-37DD-4AA2-B2D2-75856A9E5140}"/>
              </a:ext>
            </a:extLst>
          </p:cNvPr>
          <p:cNvSpPr>
            <a:spLocks xmlns:a="http://schemas.openxmlformats.org/drawingml/2006/main" noGrp="1"/>
          </p:cNvSpPr>
          <p:nvPr/>
        </p:nvSpPr>
        <p:spPr>
          <a:xfrm xmlns:a="http://schemas.openxmlformats.org/drawingml/2006/main">
            <a:off x="1619250" y="5667375"/>
            <a:ext cx="8953500" cy="4572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C2B1E19-02F9-479C-950C-711F379AF278}"/>
              </a:ext>
            </a:extLst>
          </p:cNvPr>
          <p:cNvSpPr>
            <a:spLocks xmlns:a="http://schemas.openxmlformats.org/drawingml/2006/main" noGrp="1"/>
          </p:cNvSpPr>
          <p:nvPr/>
        </p:nvSpPr>
        <p:spPr>
          <a:xfrm xmlns:a="http://schemas.openxmlformats.org/drawingml/2006/main">
            <a:off x="1857375" y="5772150"/>
            <a:ext cx="847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Then interpret the tree alongside patient, place and sampling context.</a:t>
            </a:r>
          </a:p>
        </p:txBody>
      </p:sp>
    </p:spTree>
    <p:extLst>
      <p:ext uri="{BB962C8B-B14F-4D97-AF65-F5344CB8AC3E}">
        <p14:creationId xmlns:p14="http://schemas.microsoft.com/office/powerpoint/2010/main" val="10222869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1-title">
            <a:extLst xmlns:a="http://schemas.openxmlformats.org/drawingml/2006/main">
              <a:ext uri="{FF2B5EF4-FFF2-40B4-BE49-F238E27FC236}">
                <a16:creationId xmlns:a16="http://schemas.microsoft.com/office/drawing/2014/main" id="{AD6E9BA4-9AEB-4405-AC70-9666DBECD363}"/>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413"/>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Time-resolved phylogenetics sharpens decisions—but does not replace epidemiology</a:t>
            </a:r>
          </a:p>
        </p:txBody>
      </p:sp>
      <p:cxnSp>
        <p:nvCxnSpPr>
          <p:cNvPr id="20"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0313553F-928E-411A-A920-49F52FD42D3D}"/>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839E80D8-0506-4CC1-90B9-CFF00DC14BF3}"/>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ChronoClade</a:t>
            </a:r>
            <a:r>
              <a:rPr sz="975" b="0">
                <a:solidFill>
                  <a:srgbClr val="5C6470"/>
                </a:solidFill>
                <a:latin typeface="Helvetica Neue"/>
                <a:ea typeface="Helvetica Neue"/>
                <a:cs typeface="Helvetica Neue"/>
              </a:rPr>
              <a:t> · TGBIF · 28 August 2026</a:t>
            </a:r>
          </a:p>
        </p:txBody>
      </p:sp>
      <p:sp>
        <p:nvSpPr>
          <p:cNvPr id="5" name="">
            <a:extLst xmlns:a="http://schemas.openxmlformats.org/drawingml/2006/main">
              <a:ext uri="{FF2B5EF4-FFF2-40B4-BE49-F238E27FC236}">
                <a16:creationId xmlns:a16="http://schemas.microsoft.com/office/drawing/2014/main" id="{F94A0764-A87E-44F2-90A6-D0447A5E8938}"/>
              </a:ext>
            </a:extLst>
          </p:cNvPr>
          <p:cNvSpPr>
            <a:spLocks xmlns:a="http://schemas.openxmlformats.org/drawingml/2006/main" noGrp="1"/>
          </p:cNvSpPr>
          <p:nvPr/>
        </p:nvSpPr>
        <p:spPr>
          <a:xfrm xmlns:a="http://schemas.openxmlformats.org/drawingml/2006/main">
            <a:off x="571500" y="17621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What it adds</a:t>
            </a:r>
          </a:p>
        </p:txBody>
      </p:sp>
      <p:sp>
        <p:nvSpPr>
          <p:cNvPr id="6" name="">
            <a:extLst xmlns:a="http://schemas.openxmlformats.org/drawingml/2006/main">
              <a:ext uri="{FF2B5EF4-FFF2-40B4-BE49-F238E27FC236}">
                <a16:creationId xmlns:a16="http://schemas.microsoft.com/office/drawing/2014/main" id="{6D82D294-E912-4C84-9A79-55B3F62BD04A}"/>
              </a:ext>
            </a:extLst>
          </p:cNvPr>
          <p:cNvSpPr>
            <a:spLocks xmlns:a="http://schemas.openxmlformats.org/drawingml/2006/main" noGrp="1"/>
          </p:cNvSpPr>
          <p:nvPr/>
        </p:nvSpPr>
        <p:spPr>
          <a:xfrm xmlns:a="http://schemas.openxmlformats.org/drawingml/2006/main">
            <a:off x="571500" y="2428875"/>
            <a:ext cx="49530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Places genetic divergence in calendar time</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Tests whether the sampling dates are genuinely informative</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Distinguishes persistence and repeated-introduction hypotheses</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Focuses the next epidemiological investigation</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Makes uncertainty and sampling limitations explicit</a:t>
            </a:r>
          </a:p>
        </p:txBody>
      </p:sp>
      <p:cxnSp>
        <p:nvCxnSpPr>
          <p:cNvPr id="25" name=""/>
          <p:cNvCxnSpPr/>
          <p:nvPr/>
        </p:nvCxnSpPr>
        <p:spPr>
          <a:xfrm xmlns:a="http://schemas.openxmlformats.org/drawingml/2006/main">
            <a:off x="5953125" y="1714500"/>
            <a:ext cx="0" cy="371475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8E045994-296A-4909-AE35-53041271ACAA}"/>
              </a:ext>
            </a:extLst>
          </p:cNvPr>
          <p:cNvSpPr>
            <a:spLocks xmlns:a="http://schemas.openxmlformats.org/drawingml/2006/main" noGrp="1"/>
          </p:cNvSpPr>
          <p:nvPr/>
        </p:nvSpPr>
        <p:spPr>
          <a:xfrm xmlns:a="http://schemas.openxmlformats.org/drawingml/2006/main">
            <a:off x="6477000" y="1762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What it cannot claim</a:t>
            </a:r>
          </a:p>
        </p:txBody>
      </p:sp>
      <p:sp>
        <p:nvSpPr>
          <p:cNvPr id="9" name="">
            <a:extLst xmlns:a="http://schemas.openxmlformats.org/drawingml/2006/main">
              <a:ext uri="{FF2B5EF4-FFF2-40B4-BE49-F238E27FC236}">
                <a16:creationId xmlns:a16="http://schemas.microsoft.com/office/drawing/2014/main" id="{5A170227-69C1-465D-B18B-B5474BC8DC21}"/>
              </a:ext>
            </a:extLst>
          </p:cNvPr>
          <p:cNvSpPr>
            <a:spLocks xmlns:a="http://schemas.openxmlformats.org/drawingml/2006/main" noGrp="1"/>
          </p:cNvSpPr>
          <p:nvPr/>
        </p:nvSpPr>
        <p:spPr>
          <a:xfrm xmlns:a="http://schemas.openxmlformats.org/drawingml/2006/main">
            <a:off x="6477000" y="2428875"/>
            <a:ext cx="47625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Direct transmission between people</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An exact number of introduction events</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A universal SNP threshold</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Complete global context from incomplete public sampling</a:t>
            </a:r>
          </a:p>
          <a:p xmlns:a="http://schemas.openxmlformats.org/drawingml/2006/main">
            <a:pPr algn="l">
              <a:buNone/>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 Reliable dates when temporal signal is absent</a:t>
            </a:r>
          </a:p>
        </p:txBody>
      </p:sp>
      <p:sp>
        <p:nvSpPr>
          <p:cNvPr id="10" name="">
            <a:extLst xmlns:a="http://schemas.openxmlformats.org/drawingml/2006/main">
              <a:ext uri="{FF2B5EF4-FFF2-40B4-BE49-F238E27FC236}">
                <a16:creationId xmlns:a16="http://schemas.microsoft.com/office/drawing/2014/main" id="{1F3CAC73-62DC-46C0-A772-6C2772BB09AD}"/>
              </a:ext>
            </a:extLst>
          </p:cNvPr>
          <p:cNvSpPr>
            <a:spLocks xmlns:a="http://schemas.openxmlformats.org/drawingml/2006/main" noGrp="1"/>
          </p:cNvSpPr>
          <p:nvPr/>
        </p:nvSpPr>
        <p:spPr>
          <a:xfrm xmlns:a="http://schemas.openxmlformats.org/drawingml/2006/main">
            <a:off x="571500" y="5619750"/>
            <a:ext cx="10668000" cy="419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76DE145-F4AE-4A94-AD24-6C561269B3D9}"/>
              </a:ext>
            </a:extLst>
          </p:cNvPr>
          <p:cNvSpPr>
            <a:spLocks xmlns:a="http://schemas.openxmlformats.org/drawingml/2006/main" noGrp="1"/>
          </p:cNvSpPr>
          <p:nvPr/>
        </p:nvSpPr>
        <p:spPr>
          <a:xfrm xmlns:a="http://schemas.openxmlformats.org/drawingml/2006/main">
            <a:off x="762000" y="56959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Best used as a genomic evidence layer within public-health review.</a:t>
            </a:r>
          </a:p>
        </p:txBody>
      </p:sp>
    </p:spTree>
    <p:extLst>
      <p:ext uri="{BB962C8B-B14F-4D97-AF65-F5344CB8AC3E}">
        <p14:creationId xmlns:p14="http://schemas.microsoft.com/office/powerpoint/2010/main" val="559417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2-title">
            <a:extLst xmlns:a="http://schemas.openxmlformats.org/drawingml/2006/main">
              <a:ext uri="{FF2B5EF4-FFF2-40B4-BE49-F238E27FC236}">
                <a16:creationId xmlns:a16="http://schemas.microsoft.com/office/drawing/2014/main" id="{56CD0ED7-869B-41BD-9CF3-BFB037D402DA}"/>
              </a:ext>
            </a:extLst>
          </p:cNvPr>
          <p:cNvSpPr>
            <a:spLocks xmlns:a="http://schemas.openxmlformats.org/drawingml/2006/main" noGrp="1"/>
          </p:cNvSpPr>
          <p:nvPr/>
        </p:nvSpPr>
        <p:spPr>
          <a:xfrm xmlns:a="http://schemas.openxmlformats.org/drawingml/2006/main">
            <a:off x="457200" y="3238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Three things to remember</a:t>
            </a:r>
          </a:p>
        </p:txBody>
      </p:sp>
      <p:cxnSp>
        <p:nvCxnSpPr>
          <p:cNvPr id="22" name=""/>
          <p:cNvCxnSpPr/>
          <p:nvPr/>
        </p:nvCxnSpPr>
        <p:spPr>
          <a:xfrm xmlns:a="http://schemas.openxmlformats.org/drawingml/2006/main">
            <a:off x="457200" y="120015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3E104F92-4650-4703-B75B-9013D706607E}"/>
              </a:ext>
            </a:extLst>
          </p:cNvPr>
          <p:cNvSpPr>
            <a:spLocks xmlns:a="http://schemas.openxmlformats.org/drawingml/2006/main" noGrp="1"/>
          </p:cNvSpPr>
          <p:nvPr/>
        </p:nvSpPr>
        <p:spPr>
          <a:xfrm xmlns:a="http://schemas.openxmlformats.org/drawingml/2006/main">
            <a:off x="11258550" y="62674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5DE55B9-2D57-48B4-B38E-567CAE1E598C}"/>
              </a:ext>
            </a:extLst>
          </p:cNvPr>
          <p:cNvSpPr>
            <a:spLocks xmlns:a="http://schemas.openxmlformats.org/drawingml/2006/main" noGrp="1"/>
          </p:cNvSpPr>
          <p:nvPr/>
        </p:nvSpPr>
        <p:spPr>
          <a:xfrm xmlns:a="http://schemas.openxmlformats.org/drawingml/2006/main">
            <a:off x="457200" y="6267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5C6470"/>
                </a:solidFill>
                <a:latin typeface="Helvetica Neue"/>
                <a:ea typeface="Helvetica Neue"/>
                <a:cs typeface="Helvetica Neue"/>
              </a:defRPr>
            </a:pPr>
            <a:r>
              <a:rPr sz="975" b="0">
                <a:solidFill>
                  <a:srgbClr val="5C6470"/>
                </a:solidFill>
                <a:latin typeface="Helvetica Neue"/>
                <a:ea typeface="Helvetica Neue"/>
                <a:cs typeface="Helvetica Neue"/>
              </a:rPr>
              <a:t>Discussion</a:t>
            </a:r>
          </a:p>
        </p:txBody>
      </p:sp>
      <p:sp>
        <p:nvSpPr>
          <p:cNvPr id="5" name="">
            <a:extLst xmlns:a="http://schemas.openxmlformats.org/drawingml/2006/main">
              <a:ext uri="{FF2B5EF4-FFF2-40B4-BE49-F238E27FC236}">
                <a16:creationId xmlns:a16="http://schemas.microsoft.com/office/drawing/2014/main" id="{73C0407B-9D0E-460A-8694-66085B3BE2DD}"/>
              </a:ext>
            </a:extLst>
          </p:cNvPr>
          <p:cNvSpPr>
            <a:spLocks xmlns:a="http://schemas.openxmlformats.org/drawingml/2006/main" noGrp="1"/>
          </p:cNvSpPr>
          <p:nvPr/>
        </p:nvSpPr>
        <p:spPr>
          <a:xfrm xmlns:a="http://schemas.openxmlformats.org/drawingml/2006/main">
            <a:off x="666750" y="178117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A3D091A4-A4E4-4E49-B93F-753F16A88995}"/>
              </a:ext>
            </a:extLst>
          </p:cNvPr>
          <p:cNvSpPr>
            <a:spLocks xmlns:a="http://schemas.openxmlformats.org/drawingml/2006/main" noGrp="1"/>
          </p:cNvSpPr>
          <p:nvPr/>
        </p:nvSpPr>
        <p:spPr>
          <a:xfrm xmlns:a="http://schemas.openxmlformats.org/drawingml/2006/main">
            <a:off x="742950" y="18478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B83CC72C-BE6F-45AB-B945-7FCC94FE2892}"/>
              </a:ext>
            </a:extLst>
          </p:cNvPr>
          <p:cNvSpPr>
            <a:spLocks xmlns:a="http://schemas.openxmlformats.org/drawingml/2006/main" noGrp="1"/>
          </p:cNvSpPr>
          <p:nvPr/>
        </p:nvSpPr>
        <p:spPr>
          <a:xfrm xmlns:a="http://schemas.openxmlformats.org/drawingml/2006/main">
            <a:off x="1381125" y="1762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Relatedness is not time</a:t>
            </a:r>
          </a:p>
        </p:txBody>
      </p:sp>
      <p:sp>
        <p:nvSpPr>
          <p:cNvPr id="8" name="">
            <a:extLst xmlns:a="http://schemas.openxmlformats.org/drawingml/2006/main">
              <a:ext uri="{FF2B5EF4-FFF2-40B4-BE49-F238E27FC236}">
                <a16:creationId xmlns:a16="http://schemas.microsoft.com/office/drawing/2014/main" id="{A33072FD-E478-47E9-B097-E40CFE07F40D}"/>
              </a:ext>
            </a:extLst>
          </p:cNvPr>
          <p:cNvSpPr>
            <a:spLocks xmlns:a="http://schemas.openxmlformats.org/drawingml/2006/main" noGrp="1"/>
          </p:cNvSpPr>
          <p:nvPr/>
        </p:nvSpPr>
        <p:spPr>
          <a:xfrm xmlns:a="http://schemas.openxmlformats.org/drawingml/2006/main">
            <a:off x="6191250" y="1781175"/>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An ordinary phylogeny shows shared ancestry, but not when those ancestors existed.</a:t>
            </a:r>
          </a:p>
        </p:txBody>
      </p:sp>
      <p:sp>
        <p:nvSpPr>
          <p:cNvPr id="9" name="">
            <a:extLst xmlns:a="http://schemas.openxmlformats.org/drawingml/2006/main">
              <a:ext uri="{FF2B5EF4-FFF2-40B4-BE49-F238E27FC236}">
                <a16:creationId xmlns:a16="http://schemas.microsoft.com/office/drawing/2014/main" id="{71073F15-4122-4C15-A09D-168CD0A9779E}"/>
              </a:ext>
            </a:extLst>
          </p:cNvPr>
          <p:cNvSpPr>
            <a:spLocks xmlns:a="http://schemas.openxmlformats.org/drawingml/2006/main" noGrp="1"/>
          </p:cNvSpPr>
          <p:nvPr/>
        </p:nvSpPr>
        <p:spPr>
          <a:xfrm xmlns:a="http://schemas.openxmlformats.org/drawingml/2006/main">
            <a:off x="666750" y="311467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F1DC5425-6583-4B32-9AC0-A6697079CDB6}"/>
              </a:ext>
            </a:extLst>
          </p:cNvPr>
          <p:cNvSpPr>
            <a:spLocks xmlns:a="http://schemas.openxmlformats.org/drawingml/2006/main" noGrp="1"/>
          </p:cNvSpPr>
          <p:nvPr/>
        </p:nvSpPr>
        <p:spPr>
          <a:xfrm xmlns:a="http://schemas.openxmlformats.org/drawingml/2006/main">
            <a:off x="742950" y="31813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20F4AE15-3C2A-4218-A285-069C1F7F4831}"/>
              </a:ext>
            </a:extLst>
          </p:cNvPr>
          <p:cNvSpPr>
            <a:spLocks xmlns:a="http://schemas.openxmlformats.org/drawingml/2006/main" noGrp="1"/>
          </p:cNvSpPr>
          <p:nvPr/>
        </p:nvSpPr>
        <p:spPr>
          <a:xfrm xmlns:a="http://schemas.openxmlformats.org/drawingml/2006/main">
            <a:off x="1381125" y="30956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560"/>
          </a:bodyPr>
          <a:lstStyle xmlns:a="http://schemas.openxmlformats.org/drawingml/2006/main"/>
          <a:p xmlns:a="http://schemas.openxmlformats.org/drawingml/2006/main">
            <a:pPr algn="l">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Dates only help when evolution is measurable</a:t>
            </a:r>
          </a:p>
        </p:txBody>
      </p:sp>
      <p:sp>
        <p:nvSpPr>
          <p:cNvPr id="12" name="">
            <a:extLst xmlns:a="http://schemas.openxmlformats.org/drawingml/2006/main">
              <a:ext uri="{FF2B5EF4-FFF2-40B4-BE49-F238E27FC236}">
                <a16:creationId xmlns:a16="http://schemas.microsoft.com/office/drawing/2014/main" id="{3D1E4A56-DE7F-468B-82A3-F687FE70D9C1}"/>
              </a:ext>
            </a:extLst>
          </p:cNvPr>
          <p:cNvSpPr>
            <a:spLocks xmlns:a="http://schemas.openxmlformats.org/drawingml/2006/main" noGrp="1"/>
          </p:cNvSpPr>
          <p:nvPr/>
        </p:nvSpPr>
        <p:spPr>
          <a:xfrm xmlns:a="http://schemas.openxmlformats.org/drawingml/2006/main">
            <a:off x="6191250" y="3114675"/>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A two-year sampling window may—or may not—contain enough genetic change.</a:t>
            </a:r>
          </a:p>
        </p:txBody>
      </p:sp>
      <p:sp>
        <p:nvSpPr>
          <p:cNvPr id="13" name="">
            <a:extLst xmlns:a="http://schemas.openxmlformats.org/drawingml/2006/main">
              <a:ext uri="{FF2B5EF4-FFF2-40B4-BE49-F238E27FC236}">
                <a16:creationId xmlns:a16="http://schemas.microsoft.com/office/drawing/2014/main" id="{A671BD8B-4CA8-4234-832A-6A3BE37F9169}"/>
              </a:ext>
            </a:extLst>
          </p:cNvPr>
          <p:cNvSpPr>
            <a:spLocks xmlns:a="http://schemas.openxmlformats.org/drawingml/2006/main" noGrp="1"/>
          </p:cNvSpPr>
          <p:nvPr/>
        </p:nvSpPr>
        <p:spPr>
          <a:xfrm xmlns:a="http://schemas.openxmlformats.org/drawingml/2006/main">
            <a:off x="666750" y="444817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C454B376-F732-4381-9FA5-81E1C39BB581}"/>
              </a:ext>
            </a:extLst>
          </p:cNvPr>
          <p:cNvSpPr>
            <a:spLocks xmlns:a="http://schemas.openxmlformats.org/drawingml/2006/main" noGrp="1"/>
          </p:cNvSpPr>
          <p:nvPr/>
        </p:nvSpPr>
        <p:spPr>
          <a:xfrm xmlns:a="http://schemas.openxmlformats.org/drawingml/2006/main">
            <a:off x="742950" y="45148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55D168A8-D1AE-4FB2-931E-026BCDC6D0D3}"/>
              </a:ext>
            </a:extLst>
          </p:cNvPr>
          <p:cNvSpPr>
            <a:spLocks xmlns:a="http://schemas.openxmlformats.org/drawingml/2006/main" noGrp="1"/>
          </p:cNvSpPr>
          <p:nvPr/>
        </p:nvSpPr>
        <p:spPr>
          <a:xfrm xmlns:a="http://schemas.openxmlformats.org/drawingml/2006/main">
            <a:off x="1381125" y="4429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Test before dating</a:t>
            </a:r>
          </a:p>
        </p:txBody>
      </p:sp>
      <p:sp>
        <p:nvSpPr>
          <p:cNvPr id="16" name="">
            <a:extLst xmlns:a="http://schemas.openxmlformats.org/drawingml/2006/main">
              <a:ext uri="{FF2B5EF4-FFF2-40B4-BE49-F238E27FC236}">
                <a16:creationId xmlns:a16="http://schemas.microsoft.com/office/drawing/2014/main" id="{2101BD56-4D41-45D7-A2A9-50CEEFBE924B}"/>
              </a:ext>
            </a:extLst>
          </p:cNvPr>
          <p:cNvSpPr>
            <a:spLocks xmlns:a="http://schemas.openxmlformats.org/drawingml/2006/main" noGrp="1"/>
          </p:cNvSpPr>
          <p:nvPr/>
        </p:nvSpPr>
        <p:spPr>
          <a:xfrm xmlns:a="http://schemas.openxmlformats.org/drawingml/2006/main">
            <a:off x="6191250" y="4448175"/>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C6470"/>
                </a:solidFill>
                <a:latin typeface="Helvetica Neue"/>
                <a:ea typeface="Helvetica Neue"/>
                <a:cs typeface="Helvetica Neue"/>
              </a:defRPr>
            </a:pPr>
            <a:r>
              <a:rPr sz="1500" b="0">
                <a:solidFill>
                  <a:srgbClr val="5C6470"/>
                </a:solidFill>
                <a:latin typeface="Helvetica Neue"/>
                <a:ea typeface="Helvetica Neue"/>
                <a:cs typeface="Helvetica Neue"/>
              </a:rPr>
              <a:t>No temporal signal is a valid result; do not force a time tree.</a:t>
            </a:r>
          </a:p>
        </p:txBody>
      </p:sp>
      <p:sp>
        <p:nvSpPr>
          <p:cNvPr id="17" name="">
            <a:extLst xmlns:a="http://schemas.openxmlformats.org/drawingml/2006/main">
              <a:ext uri="{FF2B5EF4-FFF2-40B4-BE49-F238E27FC236}">
                <a16:creationId xmlns:a16="http://schemas.microsoft.com/office/drawing/2014/main" id="{DD7B2EFE-B62D-4FF1-91F1-F058CF092A3A}"/>
              </a:ext>
            </a:extLst>
          </p:cNvPr>
          <p:cNvSpPr>
            <a:spLocks xmlns:a="http://schemas.openxmlformats.org/drawingml/2006/main" noGrp="1"/>
          </p:cNvSpPr>
          <p:nvPr/>
        </p:nvSpPr>
        <p:spPr>
          <a:xfrm xmlns:a="http://schemas.openxmlformats.org/drawingml/2006/main">
            <a:off x="1381125" y="5810250"/>
            <a:ext cx="9763125" cy="4572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9CBDF00-FEEB-4FDB-B70F-4498C05D093A}"/>
              </a:ext>
            </a:extLst>
          </p:cNvPr>
          <p:cNvSpPr>
            <a:spLocks xmlns:a="http://schemas.openxmlformats.org/drawingml/2006/main" noGrp="1"/>
          </p:cNvSpPr>
          <p:nvPr/>
        </p:nvSpPr>
        <p:spPr>
          <a:xfrm xmlns:a="http://schemas.openxmlformats.org/drawingml/2006/main">
            <a:off x="1619250" y="5905500"/>
            <a:ext cx="928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Which E. coli or Klebsiella ST do we have genomes and year/month dates for?</a:t>
            </a:r>
          </a:p>
        </p:txBody>
      </p:sp>
    </p:spTree>
    <p:extLst>
      <p:ext uri="{BB962C8B-B14F-4D97-AF65-F5344CB8AC3E}">
        <p14:creationId xmlns:p14="http://schemas.microsoft.com/office/powerpoint/2010/main" val="19203037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2026-09-05T13:13:43.6000000Z</dcterms:created>
  <dcterms:modified xsi:type="dcterms:W3CDTF">2026-09-05T13:13:43.6000000Z</dcterms:modified>
</coreProperties>
</file>